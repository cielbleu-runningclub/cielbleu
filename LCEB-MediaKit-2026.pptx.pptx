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orizon" charset="1" panose="02000500000000000000"/>
      <p:regular r:id="rId20"/>
    </p:embeddedFont>
    <p:embeddedFont>
      <p:font typeface="Open Sans 1" charset="1" panose="00000000000000000000"/>
      <p:regular r:id="rId21"/>
    </p:embeddedFont>
    <p:embeddedFont>
      <p:font typeface="Gagalin" charset="1" panose="00000500000000000000"/>
      <p:regular r:id="rId23"/>
    </p:embeddedFont>
    <p:embeddedFont>
      <p:font typeface="Open Sans 1 Italics" charset="1" panose="00000000000000000000"/>
      <p:regular r:id="rId25"/>
    </p:embeddedFont>
    <p:embeddedFont>
      <p:font typeface="Open Sans 1 Bold" charset="1" panose="00000000000000000000"/>
      <p:regular r:id="rId27"/>
    </p:embeddedFont>
    <p:embeddedFont>
      <p:font typeface="Arial Bold" charset="1" panose="020B0704020202020204"/>
      <p:regular r:id="rId28"/>
    </p:embeddedFont>
    <p:embeddedFont>
      <p:font typeface="Open Sans 2" charset="1" panose="020B0606030504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0"/>
            <a:ext cx="5120640" cy="10287000"/>
            <a:chOff x="0" y="0"/>
            <a:chExt cx="682752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275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D879A">
                <a:alpha val="6275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44800" y="0"/>
            <a:ext cx="2743200" cy="10287000"/>
            <a:chOff x="0" y="0"/>
            <a:chExt cx="36576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B6CDE0">
                <a:alpha val="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2250443"/>
            <a:ext cx="10972800" cy="2244080"/>
            <a:chOff x="0" y="0"/>
            <a:chExt cx="14630400" cy="29921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3" cy="2992105"/>
            </a:xfrm>
            <a:custGeom>
              <a:avLst/>
              <a:gdLst/>
              <a:ahLst/>
              <a:cxnLst/>
              <a:rect r="r" b="b" t="t" l="l"/>
              <a:pathLst>
                <a:path h="2992105" w="14630403">
                  <a:moveTo>
                    <a:pt x="0" y="0"/>
                  </a:moveTo>
                  <a:lnTo>
                    <a:pt x="14630403" y="0"/>
                  </a:lnTo>
                  <a:lnTo>
                    <a:pt x="14630403" y="2992105"/>
                  </a:lnTo>
                  <a:lnTo>
                    <a:pt x="0" y="29921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68" r="0" b="-4168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33350"/>
              <a:ext cx="14630400" cy="3125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19"/>
                </a:lnSpc>
              </a:pPr>
              <a:r>
                <a:rPr lang="en-US" sz="11600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CIELBLEU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4816716"/>
            <a:ext cx="10972800" cy="536439"/>
            <a:chOff x="0" y="0"/>
            <a:chExt cx="14630400" cy="7152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3" cy="715244"/>
            </a:xfrm>
            <a:custGeom>
              <a:avLst/>
              <a:gdLst/>
              <a:ahLst/>
              <a:cxnLst/>
              <a:rect r="r" b="b" t="t" l="l"/>
              <a:pathLst>
                <a:path h="715244" w="14630403">
                  <a:moveTo>
                    <a:pt x="0" y="0"/>
                  </a:moveTo>
                  <a:lnTo>
                    <a:pt x="14630403" y="0"/>
                  </a:lnTo>
                  <a:lnTo>
                    <a:pt x="14630403" y="715244"/>
                  </a:lnTo>
                  <a:lnTo>
                    <a:pt x="0" y="7152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481" r="0" b="-32965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4630400" cy="724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B6CDE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RUNNING CLUB · PARIS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280" y="5577840"/>
            <a:ext cx="2194560" cy="73152"/>
            <a:chOff x="0" y="0"/>
            <a:chExt cx="2926080" cy="975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0" cy="97536"/>
            </a:xfrm>
            <a:custGeom>
              <a:avLst/>
              <a:gdLst/>
              <a:ahLst/>
              <a:cxnLst/>
              <a:rect r="r" b="b" t="t" l="l"/>
              <a:pathLst>
                <a:path h="9753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6D879A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4406" y="568151"/>
            <a:ext cx="16459200" cy="692497"/>
            <a:chOff x="0" y="0"/>
            <a:chExt cx="21945600" cy="923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923325"/>
            </a:xfrm>
            <a:custGeom>
              <a:avLst/>
              <a:gdLst/>
              <a:ahLst/>
              <a:cxnLst/>
              <a:rect r="r" b="b" t="t" l="l"/>
              <a:pathLst>
                <a:path h="92332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3325"/>
                  </a:lnTo>
                  <a:lnTo>
                    <a:pt x="0" y="923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225" r="0" b="-398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945600" cy="970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QUI SOMMES-NOUS 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9600" y="2041639"/>
            <a:ext cx="9509998" cy="1396543"/>
            <a:chOff x="0" y="0"/>
            <a:chExt cx="12679998" cy="18620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80000" cy="1862061"/>
            </a:xfrm>
            <a:custGeom>
              <a:avLst/>
              <a:gdLst/>
              <a:ahLst/>
              <a:cxnLst/>
              <a:rect r="r" b="b" t="t" l="l"/>
              <a:pathLst>
                <a:path h="1862061" w="12680000">
                  <a:moveTo>
                    <a:pt x="0" y="0"/>
                  </a:moveTo>
                  <a:lnTo>
                    <a:pt x="12680000" y="0"/>
                  </a:lnTo>
                  <a:lnTo>
                    <a:pt x="12680000" y="1862061"/>
                  </a:lnTo>
                  <a:lnTo>
                    <a:pt x="0" y="18620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634" r="0" b="-5373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2679998" cy="1862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122B44"/>
                  </a:solidFill>
                  <a:latin typeface="Gagalin"/>
                  <a:ea typeface="Gagalin"/>
                  <a:cs typeface="Gagalin"/>
                  <a:sym typeface="Gagalin"/>
                </a:rPr>
                <a:t>Le ciel est bleu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9600" y="5468538"/>
            <a:ext cx="6289150" cy="1671332"/>
            <a:chOff x="0" y="0"/>
            <a:chExt cx="8534400" cy="22680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34400" cy="2267966"/>
            </a:xfrm>
            <a:custGeom>
              <a:avLst/>
              <a:gdLst/>
              <a:ahLst/>
              <a:cxnLst/>
              <a:rect r="r" b="b" t="t" l="l"/>
              <a:pathLst>
                <a:path h="2267966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267966"/>
                  </a:lnTo>
                  <a:lnTo>
                    <a:pt x="0" y="2267966"/>
                  </a:lnTo>
                  <a:close/>
                </a:path>
              </a:pathLst>
            </a:custGeom>
            <a:solidFill>
              <a:srgbClr val="D5E0E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9600" y="5468538"/>
            <a:ext cx="89611" cy="1671332"/>
            <a:chOff x="0" y="0"/>
            <a:chExt cx="121602" cy="22680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539" cy="2267966"/>
            </a:xfrm>
            <a:custGeom>
              <a:avLst/>
              <a:gdLst/>
              <a:ahLst/>
              <a:cxnLst/>
              <a:rect r="r" b="b" t="t" l="l"/>
              <a:pathLst>
                <a:path h="2267966" w="121539">
                  <a:moveTo>
                    <a:pt x="0" y="0"/>
                  </a:moveTo>
                  <a:lnTo>
                    <a:pt x="121539" y="0"/>
                  </a:lnTo>
                  <a:lnTo>
                    <a:pt x="121539" y="2267966"/>
                  </a:lnTo>
                  <a:lnTo>
                    <a:pt x="0" y="2267966"/>
                  </a:lnTo>
                  <a:close/>
                </a:path>
              </a:pathLst>
            </a:custGeom>
            <a:solidFill>
              <a:srgbClr val="6D879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33042" y="5617566"/>
            <a:ext cx="5839925" cy="786439"/>
            <a:chOff x="0" y="0"/>
            <a:chExt cx="7924800" cy="106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24800" cy="1067206"/>
            </a:xfrm>
            <a:custGeom>
              <a:avLst/>
              <a:gdLst/>
              <a:ahLst/>
              <a:cxnLst/>
              <a:rect r="r" b="b" t="t" l="l"/>
              <a:pathLst>
                <a:path h="1067206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067206"/>
                  </a:lnTo>
                  <a:lnTo>
                    <a:pt x="0" y="10672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691" r="0" b="-946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924800" cy="111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22B44"/>
                  </a:solidFill>
                  <a:latin typeface="Horizon"/>
                  <a:ea typeface="Horizon"/>
                  <a:cs typeface="Horizon"/>
                  <a:sym typeface="Horizon"/>
                </a:rPr>
                <a:t>110+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09600" y="7384707"/>
            <a:ext cx="6289150" cy="1671332"/>
            <a:chOff x="0" y="0"/>
            <a:chExt cx="8534400" cy="22680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34400" cy="2267966"/>
            </a:xfrm>
            <a:custGeom>
              <a:avLst/>
              <a:gdLst/>
              <a:ahLst/>
              <a:cxnLst/>
              <a:rect r="r" b="b" t="t" l="l"/>
              <a:pathLst>
                <a:path h="2267966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267966"/>
                  </a:lnTo>
                  <a:lnTo>
                    <a:pt x="0" y="2267966"/>
                  </a:lnTo>
                  <a:close/>
                </a:path>
              </a:pathLst>
            </a:custGeom>
            <a:solidFill>
              <a:srgbClr val="D5E0E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09600" y="7384707"/>
            <a:ext cx="89611" cy="1671332"/>
            <a:chOff x="0" y="0"/>
            <a:chExt cx="121602" cy="22680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539" cy="2267966"/>
            </a:xfrm>
            <a:custGeom>
              <a:avLst/>
              <a:gdLst/>
              <a:ahLst/>
              <a:cxnLst/>
              <a:rect r="r" b="b" t="t" l="l"/>
              <a:pathLst>
                <a:path h="2267966" w="121539">
                  <a:moveTo>
                    <a:pt x="0" y="0"/>
                  </a:moveTo>
                  <a:lnTo>
                    <a:pt x="121539" y="0"/>
                  </a:lnTo>
                  <a:lnTo>
                    <a:pt x="121539" y="2267966"/>
                  </a:lnTo>
                  <a:lnTo>
                    <a:pt x="0" y="2267966"/>
                  </a:lnTo>
                  <a:close/>
                </a:path>
              </a:pathLst>
            </a:custGeom>
            <a:solidFill>
              <a:srgbClr val="6D879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3042" y="7600930"/>
            <a:ext cx="5839925" cy="786439"/>
            <a:chOff x="0" y="0"/>
            <a:chExt cx="7924800" cy="106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24800" cy="1067206"/>
            </a:xfrm>
            <a:custGeom>
              <a:avLst/>
              <a:gdLst/>
              <a:ahLst/>
              <a:cxnLst/>
              <a:rect r="r" b="b" t="t" l="l"/>
              <a:pathLst>
                <a:path h="1067206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067206"/>
                  </a:lnTo>
                  <a:lnTo>
                    <a:pt x="0" y="10672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691" r="0" b="-9469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924800" cy="111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22B44"/>
                  </a:solidFill>
                  <a:latin typeface="Horizon"/>
                  <a:ea typeface="Horizon"/>
                  <a:cs typeface="Horizon"/>
                  <a:sym typeface="Horizon"/>
                </a:rPr>
                <a:t>2 ANS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325130" y="5468547"/>
            <a:ext cx="6289150" cy="1671332"/>
            <a:chOff x="0" y="0"/>
            <a:chExt cx="8534400" cy="22680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34400" cy="2267966"/>
            </a:xfrm>
            <a:custGeom>
              <a:avLst/>
              <a:gdLst/>
              <a:ahLst/>
              <a:cxnLst/>
              <a:rect r="r" b="b" t="t" l="l"/>
              <a:pathLst>
                <a:path h="2267966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267966"/>
                  </a:lnTo>
                  <a:lnTo>
                    <a:pt x="0" y="2267966"/>
                  </a:lnTo>
                  <a:close/>
                </a:path>
              </a:pathLst>
            </a:custGeom>
            <a:solidFill>
              <a:srgbClr val="D5E0E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325130" y="5468547"/>
            <a:ext cx="89611" cy="1671332"/>
            <a:chOff x="0" y="0"/>
            <a:chExt cx="121602" cy="22680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539" cy="2267966"/>
            </a:xfrm>
            <a:custGeom>
              <a:avLst/>
              <a:gdLst/>
              <a:ahLst/>
              <a:cxnLst/>
              <a:rect r="r" b="b" t="t" l="l"/>
              <a:pathLst>
                <a:path h="2267966" w="121539">
                  <a:moveTo>
                    <a:pt x="0" y="0"/>
                  </a:moveTo>
                  <a:lnTo>
                    <a:pt x="121539" y="0"/>
                  </a:lnTo>
                  <a:lnTo>
                    <a:pt x="121539" y="2267966"/>
                  </a:lnTo>
                  <a:lnTo>
                    <a:pt x="0" y="2267966"/>
                  </a:lnTo>
                  <a:close/>
                </a:path>
              </a:pathLst>
            </a:custGeom>
            <a:solidFill>
              <a:srgbClr val="6D879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648573" y="5617566"/>
            <a:ext cx="5839925" cy="786439"/>
            <a:chOff x="0" y="0"/>
            <a:chExt cx="7924800" cy="1067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924800" cy="1067206"/>
            </a:xfrm>
            <a:custGeom>
              <a:avLst/>
              <a:gdLst/>
              <a:ahLst/>
              <a:cxnLst/>
              <a:rect r="r" b="b" t="t" l="l"/>
              <a:pathLst>
                <a:path h="1067206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067206"/>
                  </a:lnTo>
                  <a:lnTo>
                    <a:pt x="0" y="10672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691" r="0" b="-9469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7924800" cy="111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22B44"/>
                  </a:solidFill>
                  <a:latin typeface="Horizon"/>
                  <a:ea typeface="Horizon"/>
                  <a:cs typeface="Horizon"/>
                  <a:sym typeface="Horizon"/>
                </a:rPr>
                <a:t>3 SÉANCES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0" y="9862823"/>
            <a:ext cx="18288000" cy="327918"/>
            <a:chOff x="0" y="0"/>
            <a:chExt cx="24384000" cy="4372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0" cy="437222"/>
            </a:xfrm>
            <a:custGeom>
              <a:avLst/>
              <a:gdLst/>
              <a:ahLst/>
              <a:cxnLst/>
              <a:rect r="r" b="b" t="t" l="l"/>
              <a:pathLst>
                <a:path h="43722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37222"/>
                  </a:lnTo>
                  <a:lnTo>
                    <a:pt x="0" y="437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956" r="0" b="-102541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24384000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Le ciel est bleu running club</a:t>
              </a: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· Paris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325130" y="7384707"/>
            <a:ext cx="6289150" cy="1671332"/>
            <a:chOff x="0" y="0"/>
            <a:chExt cx="8534400" cy="22680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34400" cy="2267966"/>
            </a:xfrm>
            <a:custGeom>
              <a:avLst/>
              <a:gdLst/>
              <a:ahLst/>
              <a:cxnLst/>
              <a:rect r="r" b="b" t="t" l="l"/>
              <a:pathLst>
                <a:path h="2267966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267966"/>
                  </a:lnTo>
                  <a:lnTo>
                    <a:pt x="0" y="2267966"/>
                  </a:lnTo>
                  <a:close/>
                </a:path>
              </a:pathLst>
            </a:custGeom>
            <a:solidFill>
              <a:srgbClr val="D5E0E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325130" y="7384707"/>
            <a:ext cx="89611" cy="1671332"/>
            <a:chOff x="0" y="0"/>
            <a:chExt cx="121602" cy="22680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1539" cy="2267966"/>
            </a:xfrm>
            <a:custGeom>
              <a:avLst/>
              <a:gdLst/>
              <a:ahLst/>
              <a:cxnLst/>
              <a:rect r="r" b="b" t="t" l="l"/>
              <a:pathLst>
                <a:path h="2267966" w="121539">
                  <a:moveTo>
                    <a:pt x="0" y="0"/>
                  </a:moveTo>
                  <a:lnTo>
                    <a:pt x="121539" y="0"/>
                  </a:lnTo>
                  <a:lnTo>
                    <a:pt x="121539" y="2267966"/>
                  </a:lnTo>
                  <a:lnTo>
                    <a:pt x="0" y="2267966"/>
                  </a:lnTo>
                  <a:close/>
                </a:path>
              </a:pathLst>
            </a:custGeom>
            <a:solidFill>
              <a:srgbClr val="6D879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648573" y="7600930"/>
            <a:ext cx="5839925" cy="786439"/>
            <a:chOff x="0" y="0"/>
            <a:chExt cx="7924800" cy="1067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924800" cy="1067206"/>
            </a:xfrm>
            <a:custGeom>
              <a:avLst/>
              <a:gdLst/>
              <a:ahLst/>
              <a:cxnLst/>
              <a:rect r="r" b="b" t="t" l="l"/>
              <a:pathLst>
                <a:path h="1067206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067206"/>
                  </a:lnTo>
                  <a:lnTo>
                    <a:pt x="0" y="10672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691" r="0" b="-9469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924800" cy="111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22B44"/>
                  </a:solidFill>
                  <a:latin typeface="Horizon"/>
                  <a:ea typeface="Horizon"/>
                  <a:cs typeface="Horizon"/>
                  <a:sym typeface="Horizon"/>
                </a:rPr>
                <a:t>10 encadrants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4042906" y="5487490"/>
            <a:ext cx="3814239" cy="3578075"/>
          </a:xfrm>
          <a:custGeom>
            <a:avLst/>
            <a:gdLst/>
            <a:ahLst/>
            <a:cxnLst/>
            <a:rect r="r" b="b" t="t" l="l"/>
            <a:pathLst>
              <a:path h="3578075" w="3814239">
                <a:moveTo>
                  <a:pt x="0" y="0"/>
                </a:moveTo>
                <a:lnTo>
                  <a:pt x="3814239" y="0"/>
                </a:lnTo>
                <a:lnTo>
                  <a:pt x="3814239" y="3578075"/>
                </a:lnTo>
                <a:lnTo>
                  <a:pt x="0" y="3578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92" t="-41678" r="-14851" b="-30792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609600" y="3025150"/>
            <a:ext cx="16459200" cy="1679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2600">
                <a:solidFill>
                  <a:srgbClr val="122B44"/>
                </a:solidFill>
                <a:latin typeface="Open Sans 1"/>
                <a:ea typeface="Open Sans 1"/>
                <a:cs typeface="Open Sans 1"/>
                <a:sym typeface="Open Sans 1"/>
              </a:rPr>
              <a:t>Fond</a:t>
            </a:r>
            <a:r>
              <a:rPr lang="en-US" sz="2600">
                <a:solidFill>
                  <a:srgbClr val="122B44"/>
                </a:solidFill>
                <a:latin typeface="Open Sans 1"/>
                <a:ea typeface="Open Sans 1"/>
                <a:cs typeface="Open Sans 1"/>
                <a:sym typeface="Open Sans 1"/>
              </a:rPr>
              <a:t>é en août 2024 par deux frères passionnés, notre club réunit celles et ceux qui veulent courir à leur rythme et partager un bon moment. Sorties conviviales, soutien en courses officielles et after-run autour d'un verre : ici, on court ensemble, </a:t>
            </a:r>
            <a:r>
              <a:rPr lang="en-US" sz="2600">
                <a:solidFill>
                  <a:srgbClr val="122B44"/>
                </a:solidFill>
                <a:latin typeface="Open Sans 1"/>
                <a:ea typeface="Open Sans 1"/>
                <a:cs typeface="Open Sans 1"/>
                <a:sym typeface="Open Sans 1"/>
              </a:rPr>
              <a:t>o</a:t>
            </a:r>
            <a:r>
              <a:rPr lang="en-US" sz="2600">
                <a:solidFill>
                  <a:srgbClr val="122B44"/>
                </a:solidFill>
                <a:latin typeface="Open Sans 1"/>
                <a:ea typeface="Open Sans 1"/>
                <a:cs typeface="Open Sans 1"/>
                <a:sym typeface="Open Sans 1"/>
              </a:rPr>
              <a:t>n v</a:t>
            </a:r>
            <a:r>
              <a:rPr lang="en-US" sz="2600">
                <a:solidFill>
                  <a:srgbClr val="122B44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600">
                <a:solidFill>
                  <a:srgbClr val="122B44"/>
                </a:solidFill>
                <a:latin typeface="Open Sans 1"/>
                <a:ea typeface="Open Sans 1"/>
                <a:cs typeface="Open Sans 1"/>
                <a:sym typeface="Open Sans 1"/>
              </a:rPr>
              <a:t>b</a:t>
            </a:r>
            <a:r>
              <a:rPr lang="en-US" sz="2600">
                <a:solidFill>
                  <a:srgbClr val="122B44"/>
                </a:solidFill>
                <a:latin typeface="Open Sans 1"/>
                <a:ea typeface="Open Sans 1"/>
                <a:cs typeface="Open Sans 1"/>
                <a:sym typeface="Open Sans 1"/>
              </a:rPr>
              <a:t>r</a:t>
            </a:r>
            <a:r>
              <a:rPr lang="en-US" sz="2600">
                <a:solidFill>
                  <a:srgbClr val="122B44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600">
                <a:solidFill>
                  <a:srgbClr val="122B44"/>
                </a:solidFill>
                <a:latin typeface="Open Sans 1"/>
                <a:ea typeface="Open Sans 1"/>
                <a:cs typeface="Open Sans 1"/>
                <a:sym typeface="Open Sans 1"/>
              </a:rPr>
              <a:t> ensemble</a:t>
            </a:r>
            <a:r>
              <a:rPr lang="en-US" sz="2600">
                <a:solidFill>
                  <a:srgbClr val="122B44"/>
                </a:solidFill>
                <a:latin typeface="Open Sans 1"/>
                <a:ea typeface="Open Sans 1"/>
                <a:cs typeface="Open Sans 1"/>
                <a:sym typeface="Open Sans 1"/>
              </a:rPr>
              <a:t> !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3042" y="6471208"/>
            <a:ext cx="2400985" cy="52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</a:pPr>
            <a:r>
              <a:rPr lang="en-US" sz="1768">
                <a:solidFill>
                  <a:srgbClr val="6D879A"/>
                </a:solidFill>
                <a:latin typeface="Open Sans 1"/>
                <a:ea typeface="Open Sans 1"/>
                <a:cs typeface="Open Sans 1"/>
                <a:sym typeface="Open Sans 1"/>
              </a:rPr>
              <a:t>ADHÉRENTS ACTIFS</a:t>
            </a:r>
          </a:p>
          <a:p>
            <a:pPr algn="l">
              <a:lnSpc>
                <a:spcPts val="2122"/>
              </a:lnSpc>
            </a:pPr>
            <a:r>
              <a:rPr lang="en-US" sz="1768">
                <a:solidFill>
                  <a:srgbClr val="6D879A"/>
                </a:solidFill>
                <a:latin typeface="Open Sans 1"/>
                <a:ea typeface="Open Sans 1"/>
                <a:cs typeface="Open Sans 1"/>
                <a:sym typeface="Open Sans 1"/>
              </a:rPr>
              <a:t>en croissance continue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33042" y="8387368"/>
            <a:ext cx="1546624" cy="52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</a:pPr>
            <a:r>
              <a:rPr lang="en-US" sz="1768">
                <a:solidFill>
                  <a:srgbClr val="6D879A"/>
                </a:solidFill>
                <a:latin typeface="Open Sans 1"/>
                <a:ea typeface="Open Sans 1"/>
                <a:cs typeface="Open Sans 1"/>
                <a:sym typeface="Open Sans 1"/>
              </a:rPr>
              <a:t>D'EXISTENCE </a:t>
            </a:r>
          </a:p>
          <a:p>
            <a:pPr algn="l">
              <a:lnSpc>
                <a:spcPts val="2122"/>
              </a:lnSpc>
            </a:pPr>
            <a:r>
              <a:rPr lang="en-US" sz="1768">
                <a:solidFill>
                  <a:srgbClr val="6D879A"/>
                </a:solidFill>
                <a:latin typeface="Open Sans 1"/>
                <a:ea typeface="Open Sans 1"/>
                <a:cs typeface="Open Sans 1"/>
                <a:sym typeface="Open Sans 1"/>
              </a:rPr>
              <a:t>Fondé en 2024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648573" y="6471218"/>
            <a:ext cx="3746119" cy="52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</a:pPr>
            <a:r>
              <a:rPr lang="en-US" sz="1768">
                <a:solidFill>
                  <a:srgbClr val="6D879A"/>
                </a:solidFill>
                <a:latin typeface="Open Sans 1"/>
                <a:ea typeface="Open Sans 1"/>
                <a:cs typeface="Open Sans 1"/>
                <a:sym typeface="Open Sans 1"/>
              </a:rPr>
              <a:t>PAR SEMAINE</a:t>
            </a:r>
          </a:p>
          <a:p>
            <a:pPr algn="l">
              <a:lnSpc>
                <a:spcPts val="2122"/>
              </a:lnSpc>
            </a:pPr>
            <a:r>
              <a:rPr lang="en-US" sz="1768">
                <a:solidFill>
                  <a:srgbClr val="6D879A"/>
                </a:solidFill>
                <a:latin typeface="Open Sans 1"/>
                <a:ea typeface="Open Sans 1"/>
                <a:cs typeface="Open Sans 1"/>
                <a:sym typeface="Open Sans 1"/>
              </a:rPr>
              <a:t>Lundi · mercredi · dimanche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648573" y="8387368"/>
            <a:ext cx="2633202" cy="52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</a:pPr>
            <a:r>
              <a:rPr lang="en-US" sz="1768">
                <a:solidFill>
                  <a:srgbClr val="6D879A"/>
                </a:solidFill>
                <a:latin typeface="Open Sans 1"/>
                <a:ea typeface="Open Sans 1"/>
                <a:cs typeface="Open Sans 1"/>
                <a:sym typeface="Open Sans 1"/>
              </a:rPr>
              <a:t>IMPLIQUÉS</a:t>
            </a:r>
          </a:p>
          <a:p>
            <a:pPr algn="l">
              <a:lnSpc>
                <a:spcPts val="2122"/>
              </a:lnSpc>
            </a:pPr>
            <a:r>
              <a:rPr lang="en-US" sz="1768">
                <a:solidFill>
                  <a:srgbClr val="6D879A"/>
                </a:solidFill>
                <a:latin typeface="Open Sans 1"/>
                <a:ea typeface="Open Sans 1"/>
                <a:cs typeface="Open Sans 1"/>
                <a:sym typeface="Open Sans 1"/>
              </a:rPr>
              <a:t>pour faire tourner le club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68151"/>
            <a:ext cx="16459200" cy="692497"/>
            <a:chOff x="0" y="0"/>
            <a:chExt cx="21945600" cy="923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923325"/>
            </a:xfrm>
            <a:custGeom>
              <a:avLst/>
              <a:gdLst/>
              <a:ahLst/>
              <a:cxnLst/>
              <a:rect r="r" b="b" t="t" l="l"/>
              <a:pathLst>
                <a:path h="92332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3325"/>
                  </a:lnTo>
                  <a:lnTo>
                    <a:pt x="0" y="923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225" r="0" b="-398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945600" cy="970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10 encadrants : équipe orga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251205" y="4787360"/>
            <a:ext cx="2450592" cy="626999"/>
            <a:chOff x="0" y="0"/>
            <a:chExt cx="3267456" cy="8359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67459" cy="835985"/>
            </a:xfrm>
            <a:custGeom>
              <a:avLst/>
              <a:gdLst/>
              <a:ahLst/>
              <a:cxnLst/>
              <a:rect r="r" b="b" t="t" l="l"/>
              <a:pathLst>
                <a:path h="835985" w="3267459">
                  <a:moveTo>
                    <a:pt x="0" y="0"/>
                  </a:moveTo>
                  <a:lnTo>
                    <a:pt x="3267459" y="0"/>
                  </a:lnTo>
                  <a:lnTo>
                    <a:pt x="3267459" y="835985"/>
                  </a:lnTo>
                  <a:lnTo>
                    <a:pt x="0" y="8359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95" r="0" b="19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3267456" cy="845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22B44"/>
                  </a:solidFill>
                  <a:latin typeface="Gagalin"/>
                  <a:ea typeface="Gagalin"/>
                  <a:cs typeface="Gagalin"/>
                  <a:sym typeface="Gagalin"/>
                </a:rPr>
                <a:t>Hugo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59765" y="5321141"/>
            <a:ext cx="2633472" cy="327918"/>
            <a:chOff x="0" y="0"/>
            <a:chExt cx="3511296" cy="4372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11299" cy="437222"/>
            </a:xfrm>
            <a:custGeom>
              <a:avLst/>
              <a:gdLst/>
              <a:ahLst/>
              <a:cxnLst/>
              <a:rect r="r" b="b" t="t" l="l"/>
              <a:pathLst>
                <a:path h="437222" w="3511299">
                  <a:moveTo>
                    <a:pt x="0" y="0"/>
                  </a:moveTo>
                  <a:lnTo>
                    <a:pt x="3511299" y="0"/>
                  </a:lnTo>
                  <a:lnTo>
                    <a:pt x="3511299" y="437222"/>
                  </a:lnTo>
                  <a:lnTo>
                    <a:pt x="0" y="437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52" r="0" b="-952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511296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Président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84702" y="4787360"/>
            <a:ext cx="2450592" cy="626999"/>
            <a:chOff x="0" y="0"/>
            <a:chExt cx="3267456" cy="8359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67459" cy="835985"/>
            </a:xfrm>
            <a:custGeom>
              <a:avLst/>
              <a:gdLst/>
              <a:ahLst/>
              <a:cxnLst/>
              <a:rect r="r" b="b" t="t" l="l"/>
              <a:pathLst>
                <a:path h="835985" w="3267459">
                  <a:moveTo>
                    <a:pt x="0" y="0"/>
                  </a:moveTo>
                  <a:lnTo>
                    <a:pt x="3267459" y="0"/>
                  </a:lnTo>
                  <a:lnTo>
                    <a:pt x="3267459" y="835985"/>
                  </a:lnTo>
                  <a:lnTo>
                    <a:pt x="0" y="8359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95" r="0" b="198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267456" cy="845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22B44"/>
                  </a:solidFill>
                  <a:latin typeface="Gagalin"/>
                  <a:ea typeface="Gagalin"/>
                  <a:cs typeface="Gagalin"/>
                  <a:sym typeface="Gagalin"/>
                </a:rPr>
                <a:t>Thomas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93262" y="5321141"/>
            <a:ext cx="2633472" cy="327918"/>
            <a:chOff x="0" y="0"/>
            <a:chExt cx="3511296" cy="4372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11299" cy="437222"/>
            </a:xfrm>
            <a:custGeom>
              <a:avLst/>
              <a:gdLst/>
              <a:ahLst/>
              <a:cxnLst/>
              <a:rect r="r" b="b" t="t" l="l"/>
              <a:pathLst>
                <a:path h="437222" w="3511299">
                  <a:moveTo>
                    <a:pt x="0" y="0"/>
                  </a:moveTo>
                  <a:lnTo>
                    <a:pt x="3511299" y="0"/>
                  </a:lnTo>
                  <a:lnTo>
                    <a:pt x="3511299" y="437222"/>
                  </a:lnTo>
                  <a:lnTo>
                    <a:pt x="0" y="437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52" r="0" b="-9521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511296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Vice-Président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752915" y="4831965"/>
            <a:ext cx="2450402" cy="626999"/>
            <a:chOff x="0" y="0"/>
            <a:chExt cx="3267202" cy="8359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67200" cy="835998"/>
            </a:xfrm>
            <a:custGeom>
              <a:avLst/>
              <a:gdLst/>
              <a:ahLst/>
              <a:cxnLst/>
              <a:rect r="r" b="b" t="t" l="l"/>
              <a:pathLst>
                <a:path h="835998" w="3267200">
                  <a:moveTo>
                    <a:pt x="0" y="0"/>
                  </a:moveTo>
                  <a:lnTo>
                    <a:pt x="3267200" y="0"/>
                  </a:lnTo>
                  <a:lnTo>
                    <a:pt x="3267200" y="835998"/>
                  </a:lnTo>
                  <a:lnTo>
                    <a:pt x="0" y="835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04" r="0" b="-6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267202" cy="845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22B44"/>
                  </a:solidFill>
                  <a:latin typeface="Gagalin"/>
                  <a:ea typeface="Gagalin"/>
                  <a:cs typeface="Gagalin"/>
                  <a:sym typeface="Gagalin"/>
                </a:rPr>
                <a:t>Candice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61418" y="5321141"/>
            <a:ext cx="2633396" cy="327918"/>
            <a:chOff x="0" y="0"/>
            <a:chExt cx="3511194" cy="4372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11200" cy="437220"/>
            </a:xfrm>
            <a:custGeom>
              <a:avLst/>
              <a:gdLst/>
              <a:ahLst/>
              <a:cxnLst/>
              <a:rect r="r" b="b" t="t" l="l"/>
              <a:pathLst>
                <a:path h="437220" w="3511200">
                  <a:moveTo>
                    <a:pt x="0" y="0"/>
                  </a:moveTo>
                  <a:lnTo>
                    <a:pt x="3511200" y="0"/>
                  </a:lnTo>
                  <a:lnTo>
                    <a:pt x="3511200" y="437220"/>
                  </a:lnTo>
                  <a:lnTo>
                    <a:pt x="0" y="4372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68" r="0" b="-939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511194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Trésorière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919495" y="4831984"/>
            <a:ext cx="2450402" cy="626999"/>
            <a:chOff x="0" y="0"/>
            <a:chExt cx="3267202" cy="83599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67200" cy="835998"/>
            </a:xfrm>
            <a:custGeom>
              <a:avLst/>
              <a:gdLst/>
              <a:ahLst/>
              <a:cxnLst/>
              <a:rect r="r" b="b" t="t" l="l"/>
              <a:pathLst>
                <a:path h="835998" w="3267200">
                  <a:moveTo>
                    <a:pt x="0" y="0"/>
                  </a:moveTo>
                  <a:lnTo>
                    <a:pt x="3267200" y="0"/>
                  </a:lnTo>
                  <a:lnTo>
                    <a:pt x="3267200" y="835998"/>
                  </a:lnTo>
                  <a:lnTo>
                    <a:pt x="0" y="835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04" r="0" b="-69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267202" cy="845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22B44"/>
                  </a:solidFill>
                  <a:latin typeface="Gagalin"/>
                  <a:ea typeface="Gagalin"/>
                  <a:cs typeface="Gagalin"/>
                  <a:sym typeface="Gagalin"/>
                </a:rPr>
                <a:t>Julien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827997" y="5321141"/>
            <a:ext cx="2633396" cy="327918"/>
            <a:chOff x="0" y="0"/>
            <a:chExt cx="3511194" cy="4372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11200" cy="437220"/>
            </a:xfrm>
            <a:custGeom>
              <a:avLst/>
              <a:gdLst/>
              <a:ahLst/>
              <a:cxnLst/>
              <a:rect r="r" b="b" t="t" l="l"/>
              <a:pathLst>
                <a:path h="437220" w="3511200">
                  <a:moveTo>
                    <a:pt x="0" y="0"/>
                  </a:moveTo>
                  <a:lnTo>
                    <a:pt x="3511200" y="0"/>
                  </a:lnTo>
                  <a:lnTo>
                    <a:pt x="3511200" y="437220"/>
                  </a:lnTo>
                  <a:lnTo>
                    <a:pt x="0" y="4372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68" r="0" b="-9398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511194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Secrétaire général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586336" y="8335051"/>
            <a:ext cx="2450402" cy="626999"/>
            <a:chOff x="0" y="0"/>
            <a:chExt cx="3267202" cy="835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67200" cy="835998"/>
            </a:xfrm>
            <a:custGeom>
              <a:avLst/>
              <a:gdLst/>
              <a:ahLst/>
              <a:cxnLst/>
              <a:rect r="r" b="b" t="t" l="l"/>
              <a:pathLst>
                <a:path h="835998" w="3267200">
                  <a:moveTo>
                    <a:pt x="0" y="0"/>
                  </a:moveTo>
                  <a:lnTo>
                    <a:pt x="3267200" y="0"/>
                  </a:lnTo>
                  <a:lnTo>
                    <a:pt x="3267200" y="835998"/>
                  </a:lnTo>
                  <a:lnTo>
                    <a:pt x="0" y="835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04" r="0" b="-69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267202" cy="845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22B44"/>
                  </a:solidFill>
                  <a:latin typeface="Gagalin"/>
                  <a:ea typeface="Gagalin"/>
                  <a:cs typeface="Gagalin"/>
                  <a:sym typeface="Gagalin"/>
                </a:rPr>
                <a:t>Manon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494839" y="8885420"/>
            <a:ext cx="2633396" cy="327918"/>
            <a:chOff x="0" y="0"/>
            <a:chExt cx="3511194" cy="4372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11200" cy="437220"/>
            </a:xfrm>
            <a:custGeom>
              <a:avLst/>
              <a:gdLst/>
              <a:ahLst/>
              <a:cxnLst/>
              <a:rect r="r" b="b" t="t" l="l"/>
              <a:pathLst>
                <a:path h="437220" w="3511200">
                  <a:moveTo>
                    <a:pt x="0" y="0"/>
                  </a:moveTo>
                  <a:lnTo>
                    <a:pt x="3511200" y="0"/>
                  </a:lnTo>
                  <a:lnTo>
                    <a:pt x="3511200" y="437220"/>
                  </a:lnTo>
                  <a:lnTo>
                    <a:pt x="0" y="4372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68" r="0" b="-9398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511194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6D879A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Communication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251300" y="8387991"/>
            <a:ext cx="2450402" cy="626999"/>
            <a:chOff x="0" y="0"/>
            <a:chExt cx="3267202" cy="83599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67200" cy="835998"/>
            </a:xfrm>
            <a:custGeom>
              <a:avLst/>
              <a:gdLst/>
              <a:ahLst/>
              <a:cxnLst/>
              <a:rect r="r" b="b" t="t" l="l"/>
              <a:pathLst>
                <a:path h="835998" w="3267200">
                  <a:moveTo>
                    <a:pt x="0" y="0"/>
                  </a:moveTo>
                  <a:lnTo>
                    <a:pt x="3267200" y="0"/>
                  </a:lnTo>
                  <a:lnTo>
                    <a:pt x="3267200" y="835998"/>
                  </a:lnTo>
                  <a:lnTo>
                    <a:pt x="0" y="835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04" r="0" b="-69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267202" cy="845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22B44"/>
                  </a:solidFill>
                  <a:latin typeface="Gagalin"/>
                  <a:ea typeface="Gagalin"/>
                  <a:cs typeface="Gagalin"/>
                  <a:sym typeface="Gagalin"/>
                </a:rPr>
                <a:t>Thomas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159803" y="8885420"/>
            <a:ext cx="2633396" cy="327918"/>
            <a:chOff x="0" y="0"/>
            <a:chExt cx="3511194" cy="4372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11200" cy="437220"/>
            </a:xfrm>
            <a:custGeom>
              <a:avLst/>
              <a:gdLst/>
              <a:ahLst/>
              <a:cxnLst/>
              <a:rect r="r" b="b" t="t" l="l"/>
              <a:pathLst>
                <a:path h="437220" w="3511200">
                  <a:moveTo>
                    <a:pt x="0" y="0"/>
                  </a:moveTo>
                  <a:lnTo>
                    <a:pt x="3511200" y="0"/>
                  </a:lnTo>
                  <a:lnTo>
                    <a:pt x="3511200" y="437220"/>
                  </a:lnTo>
                  <a:lnTo>
                    <a:pt x="0" y="4372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68" r="0" b="-9398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511194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6D879A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Événementiel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586336" y="4831984"/>
            <a:ext cx="2450402" cy="626999"/>
            <a:chOff x="0" y="0"/>
            <a:chExt cx="3267202" cy="8359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67200" cy="835998"/>
            </a:xfrm>
            <a:custGeom>
              <a:avLst/>
              <a:gdLst/>
              <a:ahLst/>
              <a:cxnLst/>
              <a:rect r="r" b="b" t="t" l="l"/>
              <a:pathLst>
                <a:path h="835998" w="3267200">
                  <a:moveTo>
                    <a:pt x="0" y="0"/>
                  </a:moveTo>
                  <a:lnTo>
                    <a:pt x="3267200" y="0"/>
                  </a:lnTo>
                  <a:lnTo>
                    <a:pt x="3267200" y="835998"/>
                  </a:lnTo>
                  <a:lnTo>
                    <a:pt x="0" y="835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04" r="0" b="-69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267202" cy="845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22B44"/>
                  </a:solidFill>
                  <a:latin typeface="Gagalin"/>
                  <a:ea typeface="Gagalin"/>
                  <a:cs typeface="Gagalin"/>
                  <a:sym typeface="Gagalin"/>
                </a:rPr>
                <a:t>Florianne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494839" y="5321141"/>
            <a:ext cx="2633396" cy="327918"/>
            <a:chOff x="0" y="0"/>
            <a:chExt cx="3511194" cy="4372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11200" cy="437220"/>
            </a:xfrm>
            <a:custGeom>
              <a:avLst/>
              <a:gdLst/>
              <a:ahLst/>
              <a:cxnLst/>
              <a:rect r="r" b="b" t="t" l="l"/>
              <a:pathLst>
                <a:path h="437220" w="3511200">
                  <a:moveTo>
                    <a:pt x="0" y="0"/>
                  </a:moveTo>
                  <a:lnTo>
                    <a:pt x="3511200" y="0"/>
                  </a:lnTo>
                  <a:lnTo>
                    <a:pt x="3511200" y="437220"/>
                  </a:lnTo>
                  <a:lnTo>
                    <a:pt x="0" y="4372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68" r="0" b="-9398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3511194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CTO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919495" y="8388038"/>
            <a:ext cx="2450402" cy="626999"/>
            <a:chOff x="0" y="0"/>
            <a:chExt cx="3267202" cy="8359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67200" cy="835998"/>
            </a:xfrm>
            <a:custGeom>
              <a:avLst/>
              <a:gdLst/>
              <a:ahLst/>
              <a:cxnLst/>
              <a:rect r="r" b="b" t="t" l="l"/>
              <a:pathLst>
                <a:path h="835998" w="3267200">
                  <a:moveTo>
                    <a:pt x="0" y="0"/>
                  </a:moveTo>
                  <a:lnTo>
                    <a:pt x="3267200" y="0"/>
                  </a:lnTo>
                  <a:lnTo>
                    <a:pt x="3267200" y="835998"/>
                  </a:lnTo>
                  <a:lnTo>
                    <a:pt x="0" y="835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04" r="0" b="-69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3267202" cy="845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22B44"/>
                  </a:solidFill>
                  <a:latin typeface="Gagalin"/>
                  <a:ea typeface="Gagalin"/>
                  <a:cs typeface="Gagalin"/>
                  <a:sym typeface="Gagalin"/>
                </a:rPr>
                <a:t>Julia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827997" y="8885420"/>
            <a:ext cx="2633396" cy="327918"/>
            <a:chOff x="0" y="0"/>
            <a:chExt cx="3511194" cy="4372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511200" cy="437220"/>
            </a:xfrm>
            <a:custGeom>
              <a:avLst/>
              <a:gdLst/>
              <a:ahLst/>
              <a:cxnLst/>
              <a:rect r="r" b="b" t="t" l="l"/>
              <a:pathLst>
                <a:path h="437220" w="3511200">
                  <a:moveTo>
                    <a:pt x="0" y="0"/>
                  </a:moveTo>
                  <a:lnTo>
                    <a:pt x="3511200" y="0"/>
                  </a:lnTo>
                  <a:lnTo>
                    <a:pt x="3511200" y="437220"/>
                  </a:lnTo>
                  <a:lnTo>
                    <a:pt x="0" y="4372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68" r="0" b="-9398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511194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6D879A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Événementiel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084797" y="8387991"/>
            <a:ext cx="2450402" cy="626999"/>
            <a:chOff x="0" y="0"/>
            <a:chExt cx="3267202" cy="83599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67200" cy="835998"/>
            </a:xfrm>
            <a:custGeom>
              <a:avLst/>
              <a:gdLst/>
              <a:ahLst/>
              <a:cxnLst/>
              <a:rect r="r" b="b" t="t" l="l"/>
              <a:pathLst>
                <a:path h="835998" w="3267200">
                  <a:moveTo>
                    <a:pt x="0" y="0"/>
                  </a:moveTo>
                  <a:lnTo>
                    <a:pt x="3267200" y="0"/>
                  </a:lnTo>
                  <a:lnTo>
                    <a:pt x="3267200" y="835998"/>
                  </a:lnTo>
                  <a:lnTo>
                    <a:pt x="0" y="835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04" r="0" b="-69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3267202" cy="845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22B44"/>
                  </a:solidFill>
                  <a:latin typeface="Gagalin"/>
                  <a:ea typeface="Gagalin"/>
                  <a:cs typeface="Gagalin"/>
                  <a:sym typeface="Gagalin"/>
                </a:rPr>
                <a:t>Alban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993300" y="8885420"/>
            <a:ext cx="2633396" cy="327918"/>
            <a:chOff x="0" y="0"/>
            <a:chExt cx="3511194" cy="43722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511200" cy="437220"/>
            </a:xfrm>
            <a:custGeom>
              <a:avLst/>
              <a:gdLst/>
              <a:ahLst/>
              <a:cxnLst/>
              <a:rect r="r" b="b" t="t" l="l"/>
              <a:pathLst>
                <a:path h="437220" w="3511200">
                  <a:moveTo>
                    <a:pt x="0" y="0"/>
                  </a:moveTo>
                  <a:lnTo>
                    <a:pt x="3511200" y="0"/>
                  </a:lnTo>
                  <a:lnTo>
                    <a:pt x="3511200" y="437220"/>
                  </a:lnTo>
                  <a:lnTo>
                    <a:pt x="0" y="4372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68" r="0" b="-9398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3511194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6D879A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Événementiel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752915" y="8387934"/>
            <a:ext cx="2450402" cy="626999"/>
            <a:chOff x="0" y="0"/>
            <a:chExt cx="3267202" cy="83599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267200" cy="835998"/>
            </a:xfrm>
            <a:custGeom>
              <a:avLst/>
              <a:gdLst/>
              <a:ahLst/>
              <a:cxnLst/>
              <a:rect r="r" b="b" t="t" l="l"/>
              <a:pathLst>
                <a:path h="835998" w="3267200">
                  <a:moveTo>
                    <a:pt x="0" y="0"/>
                  </a:moveTo>
                  <a:lnTo>
                    <a:pt x="3267200" y="0"/>
                  </a:lnTo>
                  <a:lnTo>
                    <a:pt x="3267200" y="835998"/>
                  </a:lnTo>
                  <a:lnTo>
                    <a:pt x="0" y="835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04" r="0" b="-69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3267202" cy="845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22B44"/>
                  </a:solidFill>
                  <a:latin typeface="Gagalin"/>
                  <a:ea typeface="Gagalin"/>
                  <a:cs typeface="Gagalin"/>
                  <a:sym typeface="Gagalin"/>
                </a:rPr>
                <a:t>Julien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661418" y="8885420"/>
            <a:ext cx="2633396" cy="327918"/>
            <a:chOff x="0" y="0"/>
            <a:chExt cx="3511194" cy="43722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511200" cy="437220"/>
            </a:xfrm>
            <a:custGeom>
              <a:avLst/>
              <a:gdLst/>
              <a:ahLst/>
              <a:cxnLst/>
              <a:rect r="r" b="b" t="t" l="l"/>
              <a:pathLst>
                <a:path h="437220" w="3511200">
                  <a:moveTo>
                    <a:pt x="0" y="0"/>
                  </a:moveTo>
                  <a:lnTo>
                    <a:pt x="3511200" y="0"/>
                  </a:lnTo>
                  <a:lnTo>
                    <a:pt x="3511200" y="437220"/>
                  </a:lnTo>
                  <a:lnTo>
                    <a:pt x="0" y="4372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68" r="0" b="-9398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3511194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6D879A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Communication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0" y="9862823"/>
            <a:ext cx="18288000" cy="327918"/>
            <a:chOff x="0" y="0"/>
            <a:chExt cx="24384000" cy="43722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4384000" cy="437222"/>
            </a:xfrm>
            <a:custGeom>
              <a:avLst/>
              <a:gdLst/>
              <a:ahLst/>
              <a:cxnLst/>
              <a:rect r="r" b="b" t="t" l="l"/>
              <a:pathLst>
                <a:path h="43722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37222"/>
                  </a:lnTo>
                  <a:lnTo>
                    <a:pt x="0" y="437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956" r="0" b="-102541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24384000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Le ciel est bleu running club</a:t>
              </a: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· Paris</a:t>
              </a: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7990158" y="6052470"/>
            <a:ext cx="2309074" cy="2309074"/>
          </a:xfrm>
          <a:custGeom>
            <a:avLst/>
            <a:gdLst/>
            <a:ahLst/>
            <a:cxnLst/>
            <a:rect r="r" b="b" t="t" l="l"/>
            <a:pathLst>
              <a:path h="2309074" w="2309074">
                <a:moveTo>
                  <a:pt x="0" y="0"/>
                </a:moveTo>
                <a:lnTo>
                  <a:pt x="2309074" y="0"/>
                </a:lnTo>
                <a:lnTo>
                  <a:pt x="2309074" y="2309075"/>
                </a:lnTo>
                <a:lnTo>
                  <a:pt x="0" y="230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2321964" y="6052470"/>
            <a:ext cx="2309074" cy="2309074"/>
          </a:xfrm>
          <a:custGeom>
            <a:avLst/>
            <a:gdLst/>
            <a:ahLst/>
            <a:cxnLst/>
            <a:rect r="r" b="b" t="t" l="l"/>
            <a:pathLst>
              <a:path h="2309074" w="2309074">
                <a:moveTo>
                  <a:pt x="0" y="0"/>
                </a:moveTo>
                <a:lnTo>
                  <a:pt x="2309074" y="0"/>
                </a:lnTo>
                <a:lnTo>
                  <a:pt x="2309074" y="2309075"/>
                </a:lnTo>
                <a:lnTo>
                  <a:pt x="0" y="230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5155461" y="6052470"/>
            <a:ext cx="2309074" cy="2309074"/>
          </a:xfrm>
          <a:custGeom>
            <a:avLst/>
            <a:gdLst/>
            <a:ahLst/>
            <a:cxnLst/>
            <a:rect r="r" b="b" t="t" l="l"/>
            <a:pathLst>
              <a:path h="2309074" w="2309074">
                <a:moveTo>
                  <a:pt x="0" y="0"/>
                </a:moveTo>
                <a:lnTo>
                  <a:pt x="2309074" y="0"/>
                </a:lnTo>
                <a:lnTo>
                  <a:pt x="2309074" y="2309075"/>
                </a:lnTo>
                <a:lnTo>
                  <a:pt x="0" y="230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3657000" y="2478286"/>
            <a:ext cx="2309074" cy="2309074"/>
          </a:xfrm>
          <a:custGeom>
            <a:avLst/>
            <a:gdLst/>
            <a:ahLst/>
            <a:cxnLst/>
            <a:rect r="r" b="b" t="t" l="l"/>
            <a:pathLst>
              <a:path h="2309074" w="2309074">
                <a:moveTo>
                  <a:pt x="0" y="0"/>
                </a:moveTo>
                <a:lnTo>
                  <a:pt x="2309074" y="0"/>
                </a:lnTo>
                <a:lnTo>
                  <a:pt x="2309074" y="2309074"/>
                </a:lnTo>
                <a:lnTo>
                  <a:pt x="0" y="23090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3657000" y="6052470"/>
            <a:ext cx="2309074" cy="2309074"/>
          </a:xfrm>
          <a:custGeom>
            <a:avLst/>
            <a:gdLst/>
            <a:ahLst/>
            <a:cxnLst/>
            <a:rect r="r" b="b" t="t" l="l"/>
            <a:pathLst>
              <a:path h="2309074" w="2309074">
                <a:moveTo>
                  <a:pt x="0" y="0"/>
                </a:moveTo>
                <a:lnTo>
                  <a:pt x="2309074" y="0"/>
                </a:lnTo>
                <a:lnTo>
                  <a:pt x="2309074" y="2309075"/>
                </a:lnTo>
                <a:lnTo>
                  <a:pt x="0" y="230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7990158" y="2478286"/>
            <a:ext cx="2309074" cy="2309074"/>
          </a:xfrm>
          <a:custGeom>
            <a:avLst/>
            <a:gdLst/>
            <a:ahLst/>
            <a:cxnLst/>
            <a:rect r="r" b="b" t="t" l="l"/>
            <a:pathLst>
              <a:path h="2309074" w="2309074">
                <a:moveTo>
                  <a:pt x="0" y="0"/>
                </a:moveTo>
                <a:lnTo>
                  <a:pt x="2309074" y="0"/>
                </a:lnTo>
                <a:lnTo>
                  <a:pt x="2309074" y="2309074"/>
                </a:lnTo>
                <a:lnTo>
                  <a:pt x="0" y="23090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0823579" y="2478286"/>
            <a:ext cx="2309074" cy="2309074"/>
          </a:xfrm>
          <a:custGeom>
            <a:avLst/>
            <a:gdLst/>
            <a:ahLst/>
            <a:cxnLst/>
            <a:rect r="r" b="b" t="t" l="l"/>
            <a:pathLst>
              <a:path h="2309074" w="2309074">
                <a:moveTo>
                  <a:pt x="0" y="0"/>
                </a:moveTo>
                <a:lnTo>
                  <a:pt x="2309074" y="0"/>
                </a:lnTo>
                <a:lnTo>
                  <a:pt x="2309074" y="2309074"/>
                </a:lnTo>
                <a:lnTo>
                  <a:pt x="0" y="23090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5155461" y="2478286"/>
            <a:ext cx="2309074" cy="2309074"/>
          </a:xfrm>
          <a:custGeom>
            <a:avLst/>
            <a:gdLst/>
            <a:ahLst/>
            <a:cxnLst/>
            <a:rect r="r" b="b" t="t" l="l"/>
            <a:pathLst>
              <a:path h="2309074" w="2309074">
                <a:moveTo>
                  <a:pt x="0" y="0"/>
                </a:moveTo>
                <a:lnTo>
                  <a:pt x="2309074" y="0"/>
                </a:lnTo>
                <a:lnTo>
                  <a:pt x="2309074" y="2309074"/>
                </a:lnTo>
                <a:lnTo>
                  <a:pt x="0" y="23090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2321964" y="2478286"/>
            <a:ext cx="2309074" cy="2309074"/>
          </a:xfrm>
          <a:custGeom>
            <a:avLst/>
            <a:gdLst/>
            <a:ahLst/>
            <a:cxnLst/>
            <a:rect r="r" b="b" t="t" l="l"/>
            <a:pathLst>
              <a:path h="2309074" w="2309074">
                <a:moveTo>
                  <a:pt x="0" y="0"/>
                </a:moveTo>
                <a:lnTo>
                  <a:pt x="2309074" y="0"/>
                </a:lnTo>
                <a:lnTo>
                  <a:pt x="2309074" y="2309074"/>
                </a:lnTo>
                <a:lnTo>
                  <a:pt x="0" y="23090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0823579" y="6052470"/>
            <a:ext cx="2309074" cy="2309074"/>
          </a:xfrm>
          <a:custGeom>
            <a:avLst/>
            <a:gdLst/>
            <a:ahLst/>
            <a:cxnLst/>
            <a:rect r="r" b="b" t="t" l="l"/>
            <a:pathLst>
              <a:path h="2309074" w="2309074">
                <a:moveTo>
                  <a:pt x="0" y="0"/>
                </a:moveTo>
                <a:lnTo>
                  <a:pt x="2309074" y="0"/>
                </a:lnTo>
                <a:lnTo>
                  <a:pt x="2309074" y="2309075"/>
                </a:lnTo>
                <a:lnTo>
                  <a:pt x="0" y="230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000125"/>
            <a:ext cx="16459200" cy="692497"/>
            <a:chOff x="0" y="0"/>
            <a:chExt cx="21945600" cy="923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923325"/>
            </a:xfrm>
            <a:custGeom>
              <a:avLst/>
              <a:gdLst/>
              <a:ahLst/>
              <a:cxnLst/>
              <a:rect r="r" b="b" t="t" l="l"/>
              <a:pathLst>
                <a:path h="92332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3325"/>
                  </a:lnTo>
                  <a:lnTo>
                    <a:pt x="0" y="923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225" r="0" b="-398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945600" cy="970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NOS séances hebdo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3081494"/>
            <a:ext cx="5273561" cy="6530562"/>
            <a:chOff x="0" y="0"/>
            <a:chExt cx="1388921" cy="17199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88922" cy="1719984"/>
            </a:xfrm>
            <a:custGeom>
              <a:avLst/>
              <a:gdLst/>
              <a:ahLst/>
              <a:cxnLst/>
              <a:rect r="r" b="b" t="t" l="l"/>
              <a:pathLst>
                <a:path h="1719984" w="1388922">
                  <a:moveTo>
                    <a:pt x="74871" y="0"/>
                  </a:moveTo>
                  <a:lnTo>
                    <a:pt x="1314050" y="0"/>
                  </a:lnTo>
                  <a:cubicBezTo>
                    <a:pt x="1333907" y="0"/>
                    <a:pt x="1352951" y="7888"/>
                    <a:pt x="1366992" y="21929"/>
                  </a:cubicBezTo>
                  <a:cubicBezTo>
                    <a:pt x="1381033" y="35970"/>
                    <a:pt x="1388922" y="55014"/>
                    <a:pt x="1388922" y="74871"/>
                  </a:cubicBezTo>
                  <a:lnTo>
                    <a:pt x="1388922" y="1645112"/>
                  </a:lnTo>
                  <a:cubicBezTo>
                    <a:pt x="1388922" y="1664969"/>
                    <a:pt x="1381033" y="1684013"/>
                    <a:pt x="1366992" y="1698054"/>
                  </a:cubicBezTo>
                  <a:cubicBezTo>
                    <a:pt x="1352951" y="1712095"/>
                    <a:pt x="1333907" y="1719984"/>
                    <a:pt x="1314050" y="1719984"/>
                  </a:cubicBezTo>
                  <a:lnTo>
                    <a:pt x="74871" y="1719984"/>
                  </a:lnTo>
                  <a:cubicBezTo>
                    <a:pt x="55014" y="1719984"/>
                    <a:pt x="35970" y="1712095"/>
                    <a:pt x="21929" y="1698054"/>
                  </a:cubicBezTo>
                  <a:cubicBezTo>
                    <a:pt x="7888" y="1684013"/>
                    <a:pt x="0" y="1664969"/>
                    <a:pt x="0" y="1645112"/>
                  </a:cubicBezTo>
                  <a:lnTo>
                    <a:pt x="0" y="74871"/>
                  </a:lnTo>
                  <a:cubicBezTo>
                    <a:pt x="0" y="55014"/>
                    <a:pt x="7888" y="35970"/>
                    <a:pt x="21929" y="21929"/>
                  </a:cubicBezTo>
                  <a:cubicBezTo>
                    <a:pt x="35970" y="7888"/>
                    <a:pt x="55014" y="0"/>
                    <a:pt x="74871" y="0"/>
                  </a:cubicBezTo>
                  <a:close/>
                </a:path>
              </a:pathLst>
            </a:custGeom>
            <a:solidFill>
              <a:srgbClr val="D5E1E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388921" cy="172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50273" y="3081494"/>
            <a:ext cx="5273561" cy="6530562"/>
            <a:chOff x="0" y="0"/>
            <a:chExt cx="1388921" cy="17199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8922" cy="1719984"/>
            </a:xfrm>
            <a:custGeom>
              <a:avLst/>
              <a:gdLst/>
              <a:ahLst/>
              <a:cxnLst/>
              <a:rect r="r" b="b" t="t" l="l"/>
              <a:pathLst>
                <a:path h="1719984" w="1388922">
                  <a:moveTo>
                    <a:pt x="74871" y="0"/>
                  </a:moveTo>
                  <a:lnTo>
                    <a:pt x="1314050" y="0"/>
                  </a:lnTo>
                  <a:cubicBezTo>
                    <a:pt x="1333907" y="0"/>
                    <a:pt x="1352951" y="7888"/>
                    <a:pt x="1366992" y="21929"/>
                  </a:cubicBezTo>
                  <a:cubicBezTo>
                    <a:pt x="1381033" y="35970"/>
                    <a:pt x="1388922" y="55014"/>
                    <a:pt x="1388922" y="74871"/>
                  </a:cubicBezTo>
                  <a:lnTo>
                    <a:pt x="1388922" y="1645112"/>
                  </a:lnTo>
                  <a:cubicBezTo>
                    <a:pt x="1388922" y="1664969"/>
                    <a:pt x="1381033" y="1684013"/>
                    <a:pt x="1366992" y="1698054"/>
                  </a:cubicBezTo>
                  <a:cubicBezTo>
                    <a:pt x="1352951" y="1712095"/>
                    <a:pt x="1333907" y="1719984"/>
                    <a:pt x="1314050" y="1719984"/>
                  </a:cubicBezTo>
                  <a:lnTo>
                    <a:pt x="74871" y="1719984"/>
                  </a:lnTo>
                  <a:cubicBezTo>
                    <a:pt x="55014" y="1719984"/>
                    <a:pt x="35970" y="1712095"/>
                    <a:pt x="21929" y="1698054"/>
                  </a:cubicBezTo>
                  <a:cubicBezTo>
                    <a:pt x="7888" y="1684013"/>
                    <a:pt x="0" y="1664969"/>
                    <a:pt x="0" y="1645112"/>
                  </a:cubicBezTo>
                  <a:lnTo>
                    <a:pt x="0" y="74871"/>
                  </a:lnTo>
                  <a:cubicBezTo>
                    <a:pt x="0" y="55014"/>
                    <a:pt x="7888" y="35970"/>
                    <a:pt x="21929" y="21929"/>
                  </a:cubicBezTo>
                  <a:cubicBezTo>
                    <a:pt x="35970" y="7888"/>
                    <a:pt x="55014" y="0"/>
                    <a:pt x="74871" y="0"/>
                  </a:cubicBezTo>
                  <a:close/>
                </a:path>
              </a:pathLst>
            </a:custGeom>
            <a:solidFill>
              <a:srgbClr val="D5E1E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88921" cy="172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985739" y="3081494"/>
            <a:ext cx="5273561" cy="6530562"/>
            <a:chOff x="0" y="0"/>
            <a:chExt cx="1388921" cy="17199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8922" cy="1719984"/>
            </a:xfrm>
            <a:custGeom>
              <a:avLst/>
              <a:gdLst/>
              <a:ahLst/>
              <a:cxnLst/>
              <a:rect r="r" b="b" t="t" l="l"/>
              <a:pathLst>
                <a:path h="1719984" w="1388922">
                  <a:moveTo>
                    <a:pt x="74871" y="0"/>
                  </a:moveTo>
                  <a:lnTo>
                    <a:pt x="1314050" y="0"/>
                  </a:lnTo>
                  <a:cubicBezTo>
                    <a:pt x="1333907" y="0"/>
                    <a:pt x="1352951" y="7888"/>
                    <a:pt x="1366992" y="21929"/>
                  </a:cubicBezTo>
                  <a:cubicBezTo>
                    <a:pt x="1381033" y="35970"/>
                    <a:pt x="1388922" y="55014"/>
                    <a:pt x="1388922" y="74871"/>
                  </a:cubicBezTo>
                  <a:lnTo>
                    <a:pt x="1388922" y="1645112"/>
                  </a:lnTo>
                  <a:cubicBezTo>
                    <a:pt x="1388922" y="1664969"/>
                    <a:pt x="1381033" y="1684013"/>
                    <a:pt x="1366992" y="1698054"/>
                  </a:cubicBezTo>
                  <a:cubicBezTo>
                    <a:pt x="1352951" y="1712095"/>
                    <a:pt x="1333907" y="1719984"/>
                    <a:pt x="1314050" y="1719984"/>
                  </a:cubicBezTo>
                  <a:lnTo>
                    <a:pt x="74871" y="1719984"/>
                  </a:lnTo>
                  <a:cubicBezTo>
                    <a:pt x="55014" y="1719984"/>
                    <a:pt x="35970" y="1712095"/>
                    <a:pt x="21929" y="1698054"/>
                  </a:cubicBezTo>
                  <a:cubicBezTo>
                    <a:pt x="7888" y="1684013"/>
                    <a:pt x="0" y="1664969"/>
                    <a:pt x="0" y="1645112"/>
                  </a:cubicBezTo>
                  <a:lnTo>
                    <a:pt x="0" y="74871"/>
                  </a:lnTo>
                  <a:cubicBezTo>
                    <a:pt x="0" y="55014"/>
                    <a:pt x="7888" y="35970"/>
                    <a:pt x="21929" y="21929"/>
                  </a:cubicBezTo>
                  <a:cubicBezTo>
                    <a:pt x="35970" y="7888"/>
                    <a:pt x="55014" y="0"/>
                    <a:pt x="74871" y="0"/>
                  </a:cubicBezTo>
                  <a:close/>
                </a:path>
              </a:pathLst>
            </a:custGeom>
            <a:solidFill>
              <a:srgbClr val="D5E1E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388921" cy="172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4190" y="2815808"/>
            <a:ext cx="4705293" cy="1714805"/>
            <a:chOff x="0" y="0"/>
            <a:chExt cx="6273724" cy="22864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73724" cy="2286406"/>
            </a:xfrm>
            <a:custGeom>
              <a:avLst/>
              <a:gdLst/>
              <a:ahLst/>
              <a:cxnLst/>
              <a:rect r="r" b="b" t="t" l="l"/>
              <a:pathLst>
                <a:path h="2286406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2286406"/>
                  </a:lnTo>
                  <a:lnTo>
                    <a:pt x="0" y="22864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6" r="-1831" b="1622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273724" cy="2286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>
                  <a:solidFill>
                    <a:srgbClr val="122B44"/>
                  </a:solidFill>
                  <a:latin typeface="Gagalin"/>
                  <a:ea typeface="Gagalin"/>
                  <a:cs typeface="Gagalin"/>
                  <a:sym typeface="Gagalin"/>
                </a:rPr>
                <a:t>LUNDI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21722" y="4323341"/>
            <a:ext cx="2215961" cy="506149"/>
            <a:chOff x="0" y="0"/>
            <a:chExt cx="2954614" cy="6748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587" y="15383"/>
              <a:ext cx="2921352" cy="644018"/>
            </a:xfrm>
            <a:custGeom>
              <a:avLst/>
              <a:gdLst/>
              <a:ahLst/>
              <a:cxnLst/>
              <a:rect r="r" b="b" t="t" l="l"/>
              <a:pathLst>
                <a:path h="644018" w="2921352">
                  <a:moveTo>
                    <a:pt x="0" y="0"/>
                  </a:moveTo>
                  <a:lnTo>
                    <a:pt x="2921353" y="0"/>
                  </a:lnTo>
                  <a:lnTo>
                    <a:pt x="2921353" y="644019"/>
                  </a:lnTo>
                  <a:lnTo>
                    <a:pt x="0" y="644019"/>
                  </a:lnTo>
                  <a:close/>
                </a:path>
              </a:pathLst>
            </a:custGeom>
            <a:solidFill>
              <a:srgbClr val="3A3A4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54527" cy="674786"/>
            </a:xfrm>
            <a:custGeom>
              <a:avLst/>
              <a:gdLst/>
              <a:ahLst/>
              <a:cxnLst/>
              <a:rect r="r" b="b" t="t" l="l"/>
              <a:pathLst>
                <a:path h="674786" w="2954527">
                  <a:moveTo>
                    <a:pt x="16587" y="0"/>
                  </a:moveTo>
                  <a:lnTo>
                    <a:pt x="2937940" y="0"/>
                  </a:lnTo>
                  <a:cubicBezTo>
                    <a:pt x="2947169" y="0"/>
                    <a:pt x="2954527" y="6940"/>
                    <a:pt x="2954527" y="15383"/>
                  </a:cubicBezTo>
                  <a:lnTo>
                    <a:pt x="2954527" y="659402"/>
                  </a:lnTo>
                  <a:cubicBezTo>
                    <a:pt x="2954527" y="667961"/>
                    <a:pt x="2947044" y="674785"/>
                    <a:pt x="2937940" y="674785"/>
                  </a:cubicBezTo>
                  <a:lnTo>
                    <a:pt x="16587" y="674785"/>
                  </a:lnTo>
                  <a:cubicBezTo>
                    <a:pt x="7483" y="674904"/>
                    <a:pt x="0" y="667961"/>
                    <a:pt x="0" y="659402"/>
                  </a:cubicBezTo>
                  <a:lnTo>
                    <a:pt x="0" y="15383"/>
                  </a:lnTo>
                  <a:cubicBezTo>
                    <a:pt x="0" y="6940"/>
                    <a:pt x="7483" y="0"/>
                    <a:pt x="16587" y="0"/>
                  </a:cubicBezTo>
                  <a:moveTo>
                    <a:pt x="16587" y="30882"/>
                  </a:moveTo>
                  <a:lnTo>
                    <a:pt x="16587" y="15383"/>
                  </a:lnTo>
                  <a:lnTo>
                    <a:pt x="33299" y="15383"/>
                  </a:lnTo>
                  <a:lnTo>
                    <a:pt x="33299" y="659402"/>
                  </a:lnTo>
                  <a:lnTo>
                    <a:pt x="16587" y="659402"/>
                  </a:lnTo>
                  <a:lnTo>
                    <a:pt x="16587" y="644018"/>
                  </a:lnTo>
                  <a:lnTo>
                    <a:pt x="2937940" y="644018"/>
                  </a:lnTo>
                  <a:lnTo>
                    <a:pt x="2937940" y="659402"/>
                  </a:lnTo>
                  <a:lnTo>
                    <a:pt x="2921352" y="659402"/>
                  </a:lnTo>
                  <a:lnTo>
                    <a:pt x="2921352" y="15383"/>
                  </a:lnTo>
                  <a:lnTo>
                    <a:pt x="2937940" y="15383"/>
                  </a:lnTo>
                  <a:lnTo>
                    <a:pt x="2937940" y="30882"/>
                  </a:lnTo>
                  <a:lnTo>
                    <a:pt x="16587" y="30882"/>
                  </a:lnTo>
                  <a:close/>
                </a:path>
              </a:pathLst>
            </a:custGeom>
            <a:solidFill>
              <a:srgbClr val="3A3A4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34190" y="4334905"/>
            <a:ext cx="2191014" cy="483014"/>
            <a:chOff x="0" y="0"/>
            <a:chExt cx="2921352" cy="6440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1352" cy="644018"/>
            </a:xfrm>
            <a:custGeom>
              <a:avLst/>
              <a:gdLst/>
              <a:ahLst/>
              <a:cxnLst/>
              <a:rect r="r" b="b" t="t" l="l"/>
              <a:pathLst>
                <a:path h="644018" w="2921352">
                  <a:moveTo>
                    <a:pt x="0" y="0"/>
                  </a:moveTo>
                  <a:lnTo>
                    <a:pt x="2921352" y="0"/>
                  </a:lnTo>
                  <a:lnTo>
                    <a:pt x="2921352" y="644018"/>
                  </a:lnTo>
                  <a:lnTo>
                    <a:pt x="0" y="6440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04" r="-1831" b="-4490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2921352" cy="634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D5E1EE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ADHÉRENTS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7951" y="5042810"/>
            <a:ext cx="4610006" cy="47625"/>
            <a:chOff x="0" y="0"/>
            <a:chExt cx="6146675" cy="63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8356" y="0"/>
              <a:ext cx="6130051" cy="63357"/>
            </a:xfrm>
            <a:custGeom>
              <a:avLst/>
              <a:gdLst/>
              <a:ahLst/>
              <a:cxnLst/>
              <a:rect r="r" b="b" t="t" l="l"/>
              <a:pathLst>
                <a:path h="63357" w="6130051">
                  <a:moveTo>
                    <a:pt x="0" y="0"/>
                  </a:moveTo>
                  <a:lnTo>
                    <a:pt x="6130051" y="0"/>
                  </a:lnTo>
                  <a:lnTo>
                    <a:pt x="6130051" y="63357"/>
                  </a:lnTo>
                  <a:lnTo>
                    <a:pt x="0" y="63357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34190" y="5285402"/>
            <a:ext cx="4705293" cy="352580"/>
            <a:chOff x="0" y="0"/>
            <a:chExt cx="6273724" cy="47010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73724" cy="470107"/>
            </a:xfrm>
            <a:custGeom>
              <a:avLst/>
              <a:gdLst/>
              <a:ahLst/>
              <a:cxnLst/>
              <a:rect r="r" b="b" t="t" l="l"/>
              <a:pathLst>
                <a:path h="470107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470107"/>
                  </a:lnTo>
                  <a:lnTo>
                    <a:pt x="0" y="470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26" r="-1831" b="-21666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273724" cy="47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spc="100">
                  <a:solidFill>
                    <a:srgbClr val="122B44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HORAIRE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34190" y="5615349"/>
            <a:ext cx="4705293" cy="456840"/>
            <a:chOff x="0" y="0"/>
            <a:chExt cx="6273724" cy="6091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73724" cy="609120"/>
            </a:xfrm>
            <a:custGeom>
              <a:avLst/>
              <a:gdLst/>
              <a:ahLst/>
              <a:cxnLst/>
              <a:rect r="r" b="b" t="t" l="l"/>
              <a:pathLst>
                <a:path h="609120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609120"/>
                  </a:lnTo>
                  <a:lnTo>
                    <a:pt x="0" y="60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321" r="-1831" b="-15840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6273724" cy="609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19H30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34190" y="6151495"/>
            <a:ext cx="4705293" cy="352580"/>
            <a:chOff x="0" y="0"/>
            <a:chExt cx="6273724" cy="4701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273724" cy="470107"/>
            </a:xfrm>
            <a:custGeom>
              <a:avLst/>
              <a:gdLst/>
              <a:ahLst/>
              <a:cxnLst/>
              <a:rect r="r" b="b" t="t" l="l"/>
              <a:pathLst>
                <a:path h="470107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470107"/>
                  </a:lnTo>
                  <a:lnTo>
                    <a:pt x="0" y="470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26" r="-1831" b="-21666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6273724" cy="47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spc="100">
                  <a:solidFill>
                    <a:srgbClr val="122B44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FRÉQUENCE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34190" y="6481443"/>
            <a:ext cx="4705293" cy="456840"/>
            <a:chOff x="0" y="0"/>
            <a:chExt cx="6273724" cy="609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73724" cy="609120"/>
            </a:xfrm>
            <a:custGeom>
              <a:avLst/>
              <a:gdLst/>
              <a:ahLst/>
              <a:cxnLst/>
              <a:rect r="r" b="b" t="t" l="l"/>
              <a:pathLst>
                <a:path h="609120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609120"/>
                  </a:lnTo>
                  <a:lnTo>
                    <a:pt x="0" y="60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321" r="-1831" b="-15840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6273724" cy="609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1 LUNDI SUR 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34190" y="7017589"/>
            <a:ext cx="4705293" cy="352580"/>
            <a:chOff x="0" y="0"/>
            <a:chExt cx="6273724" cy="4701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73724" cy="470107"/>
            </a:xfrm>
            <a:custGeom>
              <a:avLst/>
              <a:gdLst/>
              <a:ahLst/>
              <a:cxnLst/>
              <a:rect r="r" b="b" t="t" l="l"/>
              <a:pathLst>
                <a:path h="470107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470107"/>
                  </a:lnTo>
                  <a:lnTo>
                    <a:pt x="0" y="470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26" r="-1831" b="-21666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6273724" cy="47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spc="100">
                  <a:solidFill>
                    <a:srgbClr val="122B44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FORMAT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34190" y="7347536"/>
            <a:ext cx="4705293" cy="456840"/>
            <a:chOff x="0" y="0"/>
            <a:chExt cx="6273724" cy="609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73724" cy="609120"/>
            </a:xfrm>
            <a:custGeom>
              <a:avLst/>
              <a:gdLst/>
              <a:ahLst/>
              <a:cxnLst/>
              <a:rect r="r" b="b" t="t" l="l"/>
              <a:pathLst>
                <a:path h="609120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609120"/>
                  </a:lnTo>
                  <a:lnTo>
                    <a:pt x="0" y="60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321" r="-1831" b="-15840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6273724" cy="609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FRACTIONNÉ PISTE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34190" y="7883682"/>
            <a:ext cx="4705293" cy="352580"/>
            <a:chOff x="0" y="0"/>
            <a:chExt cx="6273724" cy="47010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273724" cy="470107"/>
            </a:xfrm>
            <a:custGeom>
              <a:avLst/>
              <a:gdLst/>
              <a:ahLst/>
              <a:cxnLst/>
              <a:rect r="r" b="b" t="t" l="l"/>
              <a:pathLst>
                <a:path h="470107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470107"/>
                  </a:lnTo>
                  <a:lnTo>
                    <a:pt x="0" y="470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26" r="-1831" b="-21666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6273724" cy="47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spc="100">
                  <a:solidFill>
                    <a:srgbClr val="122B44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LIEU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34190" y="8213630"/>
            <a:ext cx="4705293" cy="456840"/>
            <a:chOff x="0" y="0"/>
            <a:chExt cx="6273724" cy="609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273724" cy="609120"/>
            </a:xfrm>
            <a:custGeom>
              <a:avLst/>
              <a:gdLst/>
              <a:ahLst/>
              <a:cxnLst/>
              <a:rect r="r" b="b" t="t" l="l"/>
              <a:pathLst>
                <a:path h="609120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609120"/>
                  </a:lnTo>
                  <a:lnTo>
                    <a:pt x="0" y="60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321" r="-1831" b="-15840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6273724" cy="609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STADE LADOUMÈGUE · PARIS 19E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883562" y="2815808"/>
            <a:ext cx="4705293" cy="1714805"/>
            <a:chOff x="0" y="0"/>
            <a:chExt cx="6273724" cy="228640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273724" cy="2286406"/>
            </a:xfrm>
            <a:custGeom>
              <a:avLst/>
              <a:gdLst/>
              <a:ahLst/>
              <a:cxnLst/>
              <a:rect r="r" b="b" t="t" l="l"/>
              <a:pathLst>
                <a:path h="2286406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2286406"/>
                  </a:lnTo>
                  <a:lnTo>
                    <a:pt x="0" y="22864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6" r="-1831" b="1622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6273724" cy="2286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>
                  <a:solidFill>
                    <a:srgbClr val="122B44"/>
                  </a:solidFill>
                  <a:latin typeface="Gagalin"/>
                  <a:ea typeface="Gagalin"/>
                  <a:cs typeface="Gagalin"/>
                  <a:sym typeface="Gagalin"/>
                </a:rPr>
                <a:t>MERCREDI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871093" y="4323341"/>
            <a:ext cx="2215961" cy="506149"/>
            <a:chOff x="0" y="0"/>
            <a:chExt cx="2954614" cy="67486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587" y="15383"/>
              <a:ext cx="2921352" cy="644018"/>
            </a:xfrm>
            <a:custGeom>
              <a:avLst/>
              <a:gdLst/>
              <a:ahLst/>
              <a:cxnLst/>
              <a:rect r="r" b="b" t="t" l="l"/>
              <a:pathLst>
                <a:path h="644018" w="2921352">
                  <a:moveTo>
                    <a:pt x="0" y="0"/>
                  </a:moveTo>
                  <a:lnTo>
                    <a:pt x="2921353" y="0"/>
                  </a:lnTo>
                  <a:lnTo>
                    <a:pt x="2921353" y="644019"/>
                  </a:lnTo>
                  <a:lnTo>
                    <a:pt x="0" y="644019"/>
                  </a:lnTo>
                  <a:close/>
                </a:path>
              </a:pathLst>
            </a:custGeom>
            <a:solidFill>
              <a:srgbClr val="3A3A4A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954527" cy="674786"/>
            </a:xfrm>
            <a:custGeom>
              <a:avLst/>
              <a:gdLst/>
              <a:ahLst/>
              <a:cxnLst/>
              <a:rect r="r" b="b" t="t" l="l"/>
              <a:pathLst>
                <a:path h="674786" w="2954527">
                  <a:moveTo>
                    <a:pt x="16587" y="0"/>
                  </a:moveTo>
                  <a:lnTo>
                    <a:pt x="2937940" y="0"/>
                  </a:lnTo>
                  <a:cubicBezTo>
                    <a:pt x="2947169" y="0"/>
                    <a:pt x="2954527" y="6940"/>
                    <a:pt x="2954527" y="15383"/>
                  </a:cubicBezTo>
                  <a:lnTo>
                    <a:pt x="2954527" y="659402"/>
                  </a:lnTo>
                  <a:cubicBezTo>
                    <a:pt x="2954527" y="667961"/>
                    <a:pt x="2947044" y="674785"/>
                    <a:pt x="2937940" y="674785"/>
                  </a:cubicBezTo>
                  <a:lnTo>
                    <a:pt x="16587" y="674785"/>
                  </a:lnTo>
                  <a:cubicBezTo>
                    <a:pt x="7483" y="674904"/>
                    <a:pt x="0" y="667961"/>
                    <a:pt x="0" y="659402"/>
                  </a:cubicBezTo>
                  <a:lnTo>
                    <a:pt x="0" y="15383"/>
                  </a:lnTo>
                  <a:cubicBezTo>
                    <a:pt x="0" y="6940"/>
                    <a:pt x="7483" y="0"/>
                    <a:pt x="16587" y="0"/>
                  </a:cubicBezTo>
                  <a:moveTo>
                    <a:pt x="16587" y="30882"/>
                  </a:moveTo>
                  <a:lnTo>
                    <a:pt x="16587" y="15383"/>
                  </a:lnTo>
                  <a:lnTo>
                    <a:pt x="33299" y="15383"/>
                  </a:lnTo>
                  <a:lnTo>
                    <a:pt x="33299" y="659402"/>
                  </a:lnTo>
                  <a:lnTo>
                    <a:pt x="16587" y="659402"/>
                  </a:lnTo>
                  <a:lnTo>
                    <a:pt x="16587" y="644018"/>
                  </a:lnTo>
                  <a:lnTo>
                    <a:pt x="2937940" y="644018"/>
                  </a:lnTo>
                  <a:lnTo>
                    <a:pt x="2937940" y="659402"/>
                  </a:lnTo>
                  <a:lnTo>
                    <a:pt x="2921352" y="659402"/>
                  </a:lnTo>
                  <a:lnTo>
                    <a:pt x="2921352" y="15383"/>
                  </a:lnTo>
                  <a:lnTo>
                    <a:pt x="2937940" y="15383"/>
                  </a:lnTo>
                  <a:lnTo>
                    <a:pt x="2937940" y="30882"/>
                  </a:lnTo>
                  <a:lnTo>
                    <a:pt x="16587" y="30882"/>
                  </a:lnTo>
                  <a:close/>
                </a:path>
              </a:pathLst>
            </a:custGeom>
            <a:solidFill>
              <a:srgbClr val="3A3A4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883562" y="4334905"/>
            <a:ext cx="2191014" cy="483014"/>
            <a:chOff x="0" y="0"/>
            <a:chExt cx="2921352" cy="64401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921352" cy="644018"/>
            </a:xfrm>
            <a:custGeom>
              <a:avLst/>
              <a:gdLst/>
              <a:ahLst/>
              <a:cxnLst/>
              <a:rect r="r" b="b" t="t" l="l"/>
              <a:pathLst>
                <a:path h="644018" w="2921352">
                  <a:moveTo>
                    <a:pt x="0" y="0"/>
                  </a:moveTo>
                  <a:lnTo>
                    <a:pt x="2921352" y="0"/>
                  </a:lnTo>
                  <a:lnTo>
                    <a:pt x="2921352" y="644018"/>
                  </a:lnTo>
                  <a:lnTo>
                    <a:pt x="0" y="6440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04" r="-1831" b="-4490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9525"/>
              <a:ext cx="2921352" cy="634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D5E1EE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ADHÉRENTS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877323" y="5042810"/>
            <a:ext cx="4610006" cy="47625"/>
            <a:chOff x="0" y="0"/>
            <a:chExt cx="6146675" cy="635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8356" y="0"/>
              <a:ext cx="6130051" cy="63357"/>
            </a:xfrm>
            <a:custGeom>
              <a:avLst/>
              <a:gdLst/>
              <a:ahLst/>
              <a:cxnLst/>
              <a:rect r="r" b="b" t="t" l="l"/>
              <a:pathLst>
                <a:path h="63357" w="6130051">
                  <a:moveTo>
                    <a:pt x="0" y="0"/>
                  </a:moveTo>
                  <a:lnTo>
                    <a:pt x="6130051" y="0"/>
                  </a:lnTo>
                  <a:lnTo>
                    <a:pt x="6130051" y="63357"/>
                  </a:lnTo>
                  <a:lnTo>
                    <a:pt x="0" y="63357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883562" y="5285402"/>
            <a:ext cx="4705293" cy="352580"/>
            <a:chOff x="0" y="0"/>
            <a:chExt cx="6273724" cy="47010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273724" cy="470107"/>
            </a:xfrm>
            <a:custGeom>
              <a:avLst/>
              <a:gdLst/>
              <a:ahLst/>
              <a:cxnLst/>
              <a:rect r="r" b="b" t="t" l="l"/>
              <a:pathLst>
                <a:path h="470107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470107"/>
                  </a:lnTo>
                  <a:lnTo>
                    <a:pt x="0" y="470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26" r="-1831" b="-21666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6273724" cy="47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spc="100">
                  <a:solidFill>
                    <a:srgbClr val="122B44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HORAIRE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83562" y="5615349"/>
            <a:ext cx="4705293" cy="456840"/>
            <a:chOff x="0" y="0"/>
            <a:chExt cx="6273724" cy="6091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273724" cy="609120"/>
            </a:xfrm>
            <a:custGeom>
              <a:avLst/>
              <a:gdLst/>
              <a:ahLst/>
              <a:cxnLst/>
              <a:rect r="r" b="b" t="t" l="l"/>
              <a:pathLst>
                <a:path h="609120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609120"/>
                  </a:lnTo>
                  <a:lnTo>
                    <a:pt x="0" y="60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321" r="-1831" b="-15840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6273724" cy="609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19H20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83562" y="6151495"/>
            <a:ext cx="4705293" cy="352580"/>
            <a:chOff x="0" y="0"/>
            <a:chExt cx="6273724" cy="47010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273724" cy="470107"/>
            </a:xfrm>
            <a:custGeom>
              <a:avLst/>
              <a:gdLst/>
              <a:ahLst/>
              <a:cxnLst/>
              <a:rect r="r" b="b" t="t" l="l"/>
              <a:pathLst>
                <a:path h="470107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470107"/>
                  </a:lnTo>
                  <a:lnTo>
                    <a:pt x="0" y="470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26" r="-1831" b="-21666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6273724" cy="47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spc="100">
                  <a:solidFill>
                    <a:srgbClr val="122B44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FRÉQUENCE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883562" y="6481443"/>
            <a:ext cx="4705293" cy="456840"/>
            <a:chOff x="0" y="0"/>
            <a:chExt cx="6273724" cy="6091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273724" cy="609120"/>
            </a:xfrm>
            <a:custGeom>
              <a:avLst/>
              <a:gdLst/>
              <a:ahLst/>
              <a:cxnLst/>
              <a:rect r="r" b="b" t="t" l="l"/>
              <a:pathLst>
                <a:path h="609120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609120"/>
                  </a:lnTo>
                  <a:lnTo>
                    <a:pt x="0" y="60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321" r="-1831" b="-15840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6273724" cy="609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HEBDOMADAIRE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883562" y="7017589"/>
            <a:ext cx="4705293" cy="352580"/>
            <a:chOff x="0" y="0"/>
            <a:chExt cx="6273724" cy="47010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273724" cy="470107"/>
            </a:xfrm>
            <a:custGeom>
              <a:avLst/>
              <a:gdLst/>
              <a:ahLst/>
              <a:cxnLst/>
              <a:rect r="r" b="b" t="t" l="l"/>
              <a:pathLst>
                <a:path h="470107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470107"/>
                  </a:lnTo>
                  <a:lnTo>
                    <a:pt x="0" y="470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26" r="-1831" b="-21666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6273724" cy="47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spc="100">
                  <a:solidFill>
                    <a:srgbClr val="122B44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FORMAT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883562" y="7347536"/>
            <a:ext cx="4705293" cy="456840"/>
            <a:chOff x="0" y="0"/>
            <a:chExt cx="6273724" cy="6091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273724" cy="609120"/>
            </a:xfrm>
            <a:custGeom>
              <a:avLst/>
              <a:gdLst/>
              <a:ahLst/>
              <a:cxnLst/>
              <a:rect r="r" b="b" t="t" l="l"/>
              <a:pathLst>
                <a:path h="609120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609120"/>
                  </a:lnTo>
                  <a:lnTo>
                    <a:pt x="0" y="60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321" r="-1831" b="-15840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6273724" cy="609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FOOTING COLLECTIF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883562" y="7883682"/>
            <a:ext cx="4705293" cy="352580"/>
            <a:chOff x="0" y="0"/>
            <a:chExt cx="6273724" cy="47010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273724" cy="470107"/>
            </a:xfrm>
            <a:custGeom>
              <a:avLst/>
              <a:gdLst/>
              <a:ahLst/>
              <a:cxnLst/>
              <a:rect r="r" b="b" t="t" l="l"/>
              <a:pathLst>
                <a:path h="470107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470107"/>
                  </a:lnTo>
                  <a:lnTo>
                    <a:pt x="0" y="470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26" r="-1831" b="-21666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6273724" cy="47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spc="100">
                  <a:solidFill>
                    <a:srgbClr val="122B44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LIEU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883562" y="8213630"/>
            <a:ext cx="4705293" cy="456840"/>
            <a:chOff x="0" y="0"/>
            <a:chExt cx="6273724" cy="6091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273724" cy="609120"/>
            </a:xfrm>
            <a:custGeom>
              <a:avLst/>
              <a:gdLst/>
              <a:ahLst/>
              <a:cxnLst/>
              <a:rect r="r" b="b" t="t" l="l"/>
              <a:pathLst>
                <a:path h="609120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609120"/>
                  </a:lnTo>
                  <a:lnTo>
                    <a:pt x="0" y="60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321" r="-1831" b="-15840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6273724" cy="609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QUAIS DE SEINE · PARIS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432934" y="2815808"/>
            <a:ext cx="4705293" cy="1714805"/>
            <a:chOff x="0" y="0"/>
            <a:chExt cx="6273724" cy="228640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273724" cy="2286406"/>
            </a:xfrm>
            <a:custGeom>
              <a:avLst/>
              <a:gdLst/>
              <a:ahLst/>
              <a:cxnLst/>
              <a:rect r="r" b="b" t="t" l="l"/>
              <a:pathLst>
                <a:path h="2286406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2286406"/>
                  </a:lnTo>
                  <a:lnTo>
                    <a:pt x="0" y="22864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6" r="-1831" b="1622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6273724" cy="2286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>
                  <a:solidFill>
                    <a:srgbClr val="122B44"/>
                  </a:solidFill>
                  <a:latin typeface="Gagalin"/>
                  <a:ea typeface="Gagalin"/>
                  <a:cs typeface="Gagalin"/>
                  <a:sym typeface="Gagalin"/>
                </a:rPr>
                <a:t>DIMANCHE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420465" y="4323341"/>
            <a:ext cx="2718816" cy="506149"/>
            <a:chOff x="0" y="0"/>
            <a:chExt cx="3625088" cy="67486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587" y="15383"/>
              <a:ext cx="3591826" cy="644018"/>
            </a:xfrm>
            <a:custGeom>
              <a:avLst/>
              <a:gdLst/>
              <a:ahLst/>
              <a:cxnLst/>
              <a:rect r="r" b="b" t="t" l="l"/>
              <a:pathLst>
                <a:path h="644018" w="3591826">
                  <a:moveTo>
                    <a:pt x="0" y="0"/>
                  </a:moveTo>
                  <a:lnTo>
                    <a:pt x="3591826" y="0"/>
                  </a:lnTo>
                  <a:lnTo>
                    <a:pt x="3591826" y="644019"/>
                  </a:lnTo>
                  <a:lnTo>
                    <a:pt x="0" y="644019"/>
                  </a:lnTo>
                  <a:close/>
                </a:path>
              </a:pathLst>
            </a:custGeom>
            <a:solidFill>
              <a:srgbClr val="D4821A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625001" cy="674786"/>
            </a:xfrm>
            <a:custGeom>
              <a:avLst/>
              <a:gdLst/>
              <a:ahLst/>
              <a:cxnLst/>
              <a:rect r="r" b="b" t="t" l="l"/>
              <a:pathLst>
                <a:path h="674786" w="3625001">
                  <a:moveTo>
                    <a:pt x="16587" y="0"/>
                  </a:moveTo>
                  <a:lnTo>
                    <a:pt x="3608413" y="0"/>
                  </a:lnTo>
                  <a:cubicBezTo>
                    <a:pt x="3617643" y="0"/>
                    <a:pt x="3625001" y="6940"/>
                    <a:pt x="3625001" y="15383"/>
                  </a:cubicBezTo>
                  <a:lnTo>
                    <a:pt x="3625001" y="659402"/>
                  </a:lnTo>
                  <a:cubicBezTo>
                    <a:pt x="3625001" y="667961"/>
                    <a:pt x="3617518" y="674785"/>
                    <a:pt x="3608413" y="674785"/>
                  </a:cubicBezTo>
                  <a:lnTo>
                    <a:pt x="16587" y="674785"/>
                  </a:lnTo>
                  <a:cubicBezTo>
                    <a:pt x="7483" y="674904"/>
                    <a:pt x="0" y="667961"/>
                    <a:pt x="0" y="659402"/>
                  </a:cubicBezTo>
                  <a:lnTo>
                    <a:pt x="0" y="15383"/>
                  </a:lnTo>
                  <a:cubicBezTo>
                    <a:pt x="0" y="6940"/>
                    <a:pt x="7483" y="0"/>
                    <a:pt x="16587" y="0"/>
                  </a:cubicBezTo>
                  <a:moveTo>
                    <a:pt x="16587" y="30882"/>
                  </a:moveTo>
                  <a:lnTo>
                    <a:pt x="16587" y="15383"/>
                  </a:lnTo>
                  <a:lnTo>
                    <a:pt x="33299" y="15383"/>
                  </a:lnTo>
                  <a:lnTo>
                    <a:pt x="33299" y="659402"/>
                  </a:lnTo>
                  <a:lnTo>
                    <a:pt x="16587" y="659402"/>
                  </a:lnTo>
                  <a:lnTo>
                    <a:pt x="16587" y="644018"/>
                  </a:lnTo>
                  <a:lnTo>
                    <a:pt x="3608413" y="644018"/>
                  </a:lnTo>
                  <a:lnTo>
                    <a:pt x="3608413" y="659402"/>
                  </a:lnTo>
                  <a:lnTo>
                    <a:pt x="3591826" y="659402"/>
                  </a:lnTo>
                  <a:lnTo>
                    <a:pt x="3591826" y="15383"/>
                  </a:lnTo>
                  <a:lnTo>
                    <a:pt x="3608413" y="15383"/>
                  </a:lnTo>
                  <a:lnTo>
                    <a:pt x="3608413" y="30882"/>
                  </a:lnTo>
                  <a:lnTo>
                    <a:pt x="16587" y="30882"/>
                  </a:lnTo>
                  <a:close/>
                </a:path>
              </a:pathLst>
            </a:custGeom>
            <a:solidFill>
              <a:srgbClr val="D4821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432934" y="4334905"/>
            <a:ext cx="2693870" cy="483014"/>
            <a:chOff x="0" y="0"/>
            <a:chExt cx="3591827" cy="64401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591826" cy="644018"/>
            </a:xfrm>
            <a:custGeom>
              <a:avLst/>
              <a:gdLst/>
              <a:ahLst/>
              <a:cxnLst/>
              <a:rect r="r" b="b" t="t" l="l"/>
              <a:pathLst>
                <a:path h="644018" w="3591826">
                  <a:moveTo>
                    <a:pt x="0" y="0"/>
                  </a:moveTo>
                  <a:lnTo>
                    <a:pt x="3591826" y="0"/>
                  </a:lnTo>
                  <a:lnTo>
                    <a:pt x="3591826" y="644018"/>
                  </a:lnTo>
                  <a:lnTo>
                    <a:pt x="0" y="6440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61" r="-1831" b="-6556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9525"/>
              <a:ext cx="3591827" cy="634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OUVERT À TOUS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426695" y="5042810"/>
            <a:ext cx="4610006" cy="47625"/>
            <a:chOff x="0" y="0"/>
            <a:chExt cx="6146675" cy="635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8356" y="0"/>
              <a:ext cx="6130051" cy="63357"/>
            </a:xfrm>
            <a:custGeom>
              <a:avLst/>
              <a:gdLst/>
              <a:ahLst/>
              <a:cxnLst/>
              <a:rect r="r" b="b" t="t" l="l"/>
              <a:pathLst>
                <a:path h="63357" w="6130051">
                  <a:moveTo>
                    <a:pt x="0" y="0"/>
                  </a:moveTo>
                  <a:lnTo>
                    <a:pt x="6130051" y="0"/>
                  </a:lnTo>
                  <a:lnTo>
                    <a:pt x="6130051" y="63357"/>
                  </a:lnTo>
                  <a:lnTo>
                    <a:pt x="0" y="63357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432934" y="5285402"/>
            <a:ext cx="4705293" cy="352580"/>
            <a:chOff x="0" y="0"/>
            <a:chExt cx="6273724" cy="47010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273724" cy="470107"/>
            </a:xfrm>
            <a:custGeom>
              <a:avLst/>
              <a:gdLst/>
              <a:ahLst/>
              <a:cxnLst/>
              <a:rect r="r" b="b" t="t" l="l"/>
              <a:pathLst>
                <a:path h="470107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470107"/>
                  </a:lnTo>
                  <a:lnTo>
                    <a:pt x="0" y="470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26" r="-1831" b="-21666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6273724" cy="47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spc="100">
                  <a:solidFill>
                    <a:srgbClr val="122B44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HORAIRE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432934" y="5615349"/>
            <a:ext cx="4705293" cy="456840"/>
            <a:chOff x="0" y="0"/>
            <a:chExt cx="6273724" cy="6091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273724" cy="609120"/>
            </a:xfrm>
            <a:custGeom>
              <a:avLst/>
              <a:gdLst/>
              <a:ahLst/>
              <a:cxnLst/>
              <a:rect r="r" b="b" t="t" l="l"/>
              <a:pathLst>
                <a:path h="609120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609120"/>
                  </a:lnTo>
                  <a:lnTo>
                    <a:pt x="0" y="60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321" r="-1831" b="-15840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6273724" cy="609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10H20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432934" y="6151495"/>
            <a:ext cx="4705293" cy="352580"/>
            <a:chOff x="0" y="0"/>
            <a:chExt cx="6273724" cy="470107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273724" cy="470107"/>
            </a:xfrm>
            <a:custGeom>
              <a:avLst/>
              <a:gdLst/>
              <a:ahLst/>
              <a:cxnLst/>
              <a:rect r="r" b="b" t="t" l="l"/>
              <a:pathLst>
                <a:path h="470107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470107"/>
                  </a:lnTo>
                  <a:lnTo>
                    <a:pt x="0" y="470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26" r="-1831" b="-21666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6273724" cy="47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spc="100">
                  <a:solidFill>
                    <a:srgbClr val="122B44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FRÉQUENCE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2432934" y="6481443"/>
            <a:ext cx="4705293" cy="456840"/>
            <a:chOff x="0" y="0"/>
            <a:chExt cx="6273724" cy="6091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273724" cy="609120"/>
            </a:xfrm>
            <a:custGeom>
              <a:avLst/>
              <a:gdLst/>
              <a:ahLst/>
              <a:cxnLst/>
              <a:rect r="r" b="b" t="t" l="l"/>
              <a:pathLst>
                <a:path h="609120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609120"/>
                  </a:lnTo>
                  <a:lnTo>
                    <a:pt x="0" y="60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321" r="-1831" b="-158406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6273724" cy="609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HEBDOMADAIRE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2432934" y="7017589"/>
            <a:ext cx="4705293" cy="352580"/>
            <a:chOff x="0" y="0"/>
            <a:chExt cx="6273724" cy="470107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273724" cy="470107"/>
            </a:xfrm>
            <a:custGeom>
              <a:avLst/>
              <a:gdLst/>
              <a:ahLst/>
              <a:cxnLst/>
              <a:rect r="r" b="b" t="t" l="l"/>
              <a:pathLst>
                <a:path h="470107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470107"/>
                  </a:lnTo>
                  <a:lnTo>
                    <a:pt x="0" y="470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26" r="-1831" b="-216664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6273724" cy="47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spc="100">
                  <a:solidFill>
                    <a:srgbClr val="122B44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FORMAT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2432934" y="7347536"/>
            <a:ext cx="4705293" cy="456840"/>
            <a:chOff x="0" y="0"/>
            <a:chExt cx="6273724" cy="60912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73724" cy="609120"/>
            </a:xfrm>
            <a:custGeom>
              <a:avLst/>
              <a:gdLst/>
              <a:ahLst/>
              <a:cxnLst/>
              <a:rect r="r" b="b" t="t" l="l"/>
              <a:pathLst>
                <a:path h="609120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609120"/>
                  </a:lnTo>
                  <a:lnTo>
                    <a:pt x="0" y="60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321" r="-1831" b="-158406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6273724" cy="609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SOCIAL RUN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432934" y="7883682"/>
            <a:ext cx="4705293" cy="352580"/>
            <a:chOff x="0" y="0"/>
            <a:chExt cx="6273724" cy="470107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73724" cy="470107"/>
            </a:xfrm>
            <a:custGeom>
              <a:avLst/>
              <a:gdLst/>
              <a:ahLst/>
              <a:cxnLst/>
              <a:rect r="r" b="b" t="t" l="l"/>
              <a:pathLst>
                <a:path h="470107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470107"/>
                  </a:lnTo>
                  <a:lnTo>
                    <a:pt x="0" y="470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26" r="-1831" b="-216664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6273724" cy="47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spc="100">
                  <a:solidFill>
                    <a:srgbClr val="122B44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LIEU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432934" y="8213630"/>
            <a:ext cx="4705293" cy="456840"/>
            <a:chOff x="0" y="0"/>
            <a:chExt cx="6273724" cy="60912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73724" cy="609120"/>
            </a:xfrm>
            <a:custGeom>
              <a:avLst/>
              <a:gdLst/>
              <a:ahLst/>
              <a:cxnLst/>
              <a:rect r="r" b="b" t="t" l="l"/>
              <a:pathLst>
                <a:path h="609120" w="6273724">
                  <a:moveTo>
                    <a:pt x="0" y="0"/>
                  </a:moveTo>
                  <a:lnTo>
                    <a:pt x="6273724" y="0"/>
                  </a:lnTo>
                  <a:lnTo>
                    <a:pt x="6273724" y="609120"/>
                  </a:lnTo>
                  <a:lnTo>
                    <a:pt x="0" y="60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321" r="-1831" b="-158406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0"/>
              <a:ext cx="6273724" cy="609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POINT PUBLIÉ SUR STRAVA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6877323" y="8767206"/>
            <a:ext cx="9656523" cy="461266"/>
            <a:chOff x="0" y="0"/>
            <a:chExt cx="12875364" cy="615021"/>
          </a:xfrm>
        </p:grpSpPr>
        <p:grpSp>
          <p:nvGrpSpPr>
            <p:cNvPr name="Group 122" id="122"/>
            <p:cNvGrpSpPr/>
            <p:nvPr/>
          </p:nvGrpSpPr>
          <p:grpSpPr>
            <a:xfrm rot="0">
              <a:off x="0" y="0"/>
              <a:ext cx="1644919" cy="615021"/>
              <a:chOff x="0" y="0"/>
              <a:chExt cx="1644919" cy="615021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8356" y="7750"/>
                <a:ext cx="1628295" cy="599603"/>
              </a:xfrm>
              <a:custGeom>
                <a:avLst/>
                <a:gdLst/>
                <a:ahLst/>
                <a:cxnLst/>
                <a:rect r="r" b="b" t="t" l="l"/>
                <a:pathLst>
                  <a:path h="599603" w="1628295">
                    <a:moveTo>
                      <a:pt x="0" y="0"/>
                    </a:moveTo>
                    <a:lnTo>
                      <a:pt x="1628295" y="0"/>
                    </a:lnTo>
                    <a:lnTo>
                      <a:pt x="1628295" y="599603"/>
                    </a:lnTo>
                    <a:lnTo>
                      <a:pt x="0" y="599603"/>
                    </a:lnTo>
                    <a:close/>
                  </a:path>
                </a:pathLst>
              </a:custGeom>
              <a:solidFill>
                <a:srgbClr val="2C4060"/>
              </a:solidFill>
            </p:spPr>
          </p:sp>
          <p:sp>
            <p:nvSpPr>
              <p:cNvPr name="Freeform 124" id="124"/>
              <p:cNvSpPr/>
              <p:nvPr/>
            </p:nvSpPr>
            <p:spPr>
              <a:xfrm flipH="false" flipV="false" rot="0">
                <a:off x="0" y="0"/>
                <a:ext cx="1645008" cy="615110"/>
              </a:xfrm>
              <a:custGeom>
                <a:avLst/>
                <a:gdLst/>
                <a:ahLst/>
                <a:cxnLst/>
                <a:rect r="r" b="b" t="t" l="l"/>
                <a:pathLst>
                  <a:path h="615110" w="1645008">
                    <a:moveTo>
                      <a:pt x="8356" y="0"/>
                    </a:moveTo>
                    <a:lnTo>
                      <a:pt x="1636651" y="0"/>
                    </a:lnTo>
                    <a:cubicBezTo>
                      <a:pt x="1641265" y="0"/>
                      <a:pt x="1645008" y="3470"/>
                      <a:pt x="1645008" y="7750"/>
                    </a:cubicBezTo>
                    <a:lnTo>
                      <a:pt x="1645008" y="607353"/>
                    </a:lnTo>
                    <a:cubicBezTo>
                      <a:pt x="1645008" y="611632"/>
                      <a:pt x="1641265" y="615110"/>
                      <a:pt x="1636651" y="615110"/>
                    </a:cubicBezTo>
                    <a:lnTo>
                      <a:pt x="8356" y="615110"/>
                    </a:lnTo>
                    <a:cubicBezTo>
                      <a:pt x="3741" y="615110"/>
                      <a:pt x="0" y="611632"/>
                      <a:pt x="0" y="607353"/>
                    </a:cubicBezTo>
                    <a:lnTo>
                      <a:pt x="0" y="7750"/>
                    </a:lnTo>
                    <a:cubicBezTo>
                      <a:pt x="0" y="3470"/>
                      <a:pt x="3741" y="0"/>
                      <a:pt x="8356" y="0"/>
                    </a:cubicBezTo>
                    <a:moveTo>
                      <a:pt x="8356" y="15383"/>
                    </a:moveTo>
                    <a:lnTo>
                      <a:pt x="8356" y="7750"/>
                    </a:lnTo>
                    <a:lnTo>
                      <a:pt x="16712" y="7750"/>
                    </a:lnTo>
                    <a:lnTo>
                      <a:pt x="16712" y="607353"/>
                    </a:lnTo>
                    <a:lnTo>
                      <a:pt x="8356" y="607353"/>
                    </a:lnTo>
                    <a:lnTo>
                      <a:pt x="8356" y="599603"/>
                    </a:lnTo>
                    <a:lnTo>
                      <a:pt x="1636651" y="599603"/>
                    </a:lnTo>
                    <a:lnTo>
                      <a:pt x="1636651" y="607353"/>
                    </a:lnTo>
                    <a:lnTo>
                      <a:pt x="1628295" y="607353"/>
                    </a:lnTo>
                    <a:lnTo>
                      <a:pt x="1628295" y="7750"/>
                    </a:lnTo>
                    <a:lnTo>
                      <a:pt x="1636651" y="7750"/>
                    </a:lnTo>
                    <a:lnTo>
                      <a:pt x="1636651" y="15499"/>
                    </a:lnTo>
                    <a:lnTo>
                      <a:pt x="8356" y="15499"/>
                    </a:lnTo>
                    <a:close/>
                  </a:path>
                </a:pathLst>
              </a:custGeom>
              <a:solidFill>
                <a:srgbClr val="4A6FA5"/>
              </a:solidFill>
            </p:spPr>
          </p:sp>
        </p:grpSp>
        <p:grpSp>
          <p:nvGrpSpPr>
            <p:cNvPr name="Group 125" id="125"/>
            <p:cNvGrpSpPr/>
            <p:nvPr/>
          </p:nvGrpSpPr>
          <p:grpSpPr>
            <a:xfrm rot="0">
              <a:off x="8319" y="7715"/>
              <a:ext cx="1628295" cy="599603"/>
              <a:chOff x="0" y="0"/>
              <a:chExt cx="1628295" cy="599603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0" y="0"/>
                <a:ext cx="1628295" cy="599603"/>
              </a:xfrm>
              <a:custGeom>
                <a:avLst/>
                <a:gdLst/>
                <a:ahLst/>
                <a:cxnLst/>
                <a:rect r="r" b="b" t="t" l="l"/>
                <a:pathLst>
                  <a:path h="599603" w="1628295">
                    <a:moveTo>
                      <a:pt x="0" y="0"/>
                    </a:moveTo>
                    <a:lnTo>
                      <a:pt x="1628295" y="0"/>
                    </a:lnTo>
                    <a:lnTo>
                      <a:pt x="1628295" y="599603"/>
                    </a:lnTo>
                    <a:lnTo>
                      <a:pt x="0" y="59960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961" t="0" r="-2792" b="-9800"/>
                </a:stretch>
              </a:blipFill>
            </p:spPr>
          </p:sp>
          <p:sp>
            <p:nvSpPr>
              <p:cNvPr name="TextBox 127" id="127"/>
              <p:cNvSpPr txBox="true"/>
              <p:nvPr/>
            </p:nvSpPr>
            <p:spPr>
              <a:xfrm>
                <a:off x="0" y="-9525"/>
                <a:ext cx="1628295" cy="6091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5'30</a:t>
                </a:r>
              </a:p>
            </p:txBody>
          </p:sp>
        </p:grpSp>
        <p:grpSp>
          <p:nvGrpSpPr>
            <p:cNvPr name="Group 128" id="128"/>
            <p:cNvGrpSpPr/>
            <p:nvPr/>
          </p:nvGrpSpPr>
          <p:grpSpPr>
            <a:xfrm rot="0">
              <a:off x="1915641" y="0"/>
              <a:ext cx="1644919" cy="615021"/>
              <a:chOff x="0" y="0"/>
              <a:chExt cx="1644919" cy="615021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8356" y="7750"/>
                <a:ext cx="1628295" cy="599603"/>
              </a:xfrm>
              <a:custGeom>
                <a:avLst/>
                <a:gdLst/>
                <a:ahLst/>
                <a:cxnLst/>
                <a:rect r="r" b="b" t="t" l="l"/>
                <a:pathLst>
                  <a:path h="599603" w="1628295">
                    <a:moveTo>
                      <a:pt x="0" y="0"/>
                    </a:moveTo>
                    <a:lnTo>
                      <a:pt x="1628295" y="0"/>
                    </a:lnTo>
                    <a:lnTo>
                      <a:pt x="1628295" y="599603"/>
                    </a:lnTo>
                    <a:lnTo>
                      <a:pt x="0" y="599603"/>
                    </a:lnTo>
                    <a:close/>
                  </a:path>
                </a:pathLst>
              </a:custGeom>
              <a:solidFill>
                <a:srgbClr val="2C4060"/>
              </a:solidFill>
            </p:spPr>
          </p:sp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1645008" cy="615110"/>
              </a:xfrm>
              <a:custGeom>
                <a:avLst/>
                <a:gdLst/>
                <a:ahLst/>
                <a:cxnLst/>
                <a:rect r="r" b="b" t="t" l="l"/>
                <a:pathLst>
                  <a:path h="615110" w="1645008">
                    <a:moveTo>
                      <a:pt x="8356" y="0"/>
                    </a:moveTo>
                    <a:lnTo>
                      <a:pt x="1636651" y="0"/>
                    </a:lnTo>
                    <a:cubicBezTo>
                      <a:pt x="1641265" y="0"/>
                      <a:pt x="1645008" y="3470"/>
                      <a:pt x="1645008" y="7750"/>
                    </a:cubicBezTo>
                    <a:lnTo>
                      <a:pt x="1645008" y="607353"/>
                    </a:lnTo>
                    <a:cubicBezTo>
                      <a:pt x="1645008" y="611632"/>
                      <a:pt x="1641265" y="615110"/>
                      <a:pt x="1636651" y="615110"/>
                    </a:cubicBezTo>
                    <a:lnTo>
                      <a:pt x="8356" y="615110"/>
                    </a:lnTo>
                    <a:cubicBezTo>
                      <a:pt x="3741" y="615110"/>
                      <a:pt x="0" y="611632"/>
                      <a:pt x="0" y="607353"/>
                    </a:cubicBezTo>
                    <a:lnTo>
                      <a:pt x="0" y="7750"/>
                    </a:lnTo>
                    <a:cubicBezTo>
                      <a:pt x="0" y="3470"/>
                      <a:pt x="3741" y="0"/>
                      <a:pt x="8356" y="0"/>
                    </a:cubicBezTo>
                    <a:moveTo>
                      <a:pt x="8356" y="15383"/>
                    </a:moveTo>
                    <a:lnTo>
                      <a:pt x="8356" y="7750"/>
                    </a:lnTo>
                    <a:lnTo>
                      <a:pt x="16712" y="7750"/>
                    </a:lnTo>
                    <a:lnTo>
                      <a:pt x="16712" y="607353"/>
                    </a:lnTo>
                    <a:lnTo>
                      <a:pt x="8356" y="607353"/>
                    </a:lnTo>
                    <a:lnTo>
                      <a:pt x="8356" y="599603"/>
                    </a:lnTo>
                    <a:lnTo>
                      <a:pt x="1636651" y="599603"/>
                    </a:lnTo>
                    <a:lnTo>
                      <a:pt x="1636651" y="607353"/>
                    </a:lnTo>
                    <a:lnTo>
                      <a:pt x="1628295" y="607353"/>
                    </a:lnTo>
                    <a:lnTo>
                      <a:pt x="1628295" y="7750"/>
                    </a:lnTo>
                    <a:lnTo>
                      <a:pt x="1636651" y="7750"/>
                    </a:lnTo>
                    <a:lnTo>
                      <a:pt x="1636651" y="15499"/>
                    </a:lnTo>
                    <a:lnTo>
                      <a:pt x="8356" y="15499"/>
                    </a:lnTo>
                    <a:close/>
                  </a:path>
                </a:pathLst>
              </a:custGeom>
              <a:solidFill>
                <a:srgbClr val="4A6FA5"/>
              </a:solidFill>
            </p:spPr>
          </p:sp>
        </p:grpSp>
        <p:grpSp>
          <p:nvGrpSpPr>
            <p:cNvPr name="Group 131" id="131"/>
            <p:cNvGrpSpPr/>
            <p:nvPr/>
          </p:nvGrpSpPr>
          <p:grpSpPr>
            <a:xfrm rot="0">
              <a:off x="1923959" y="7715"/>
              <a:ext cx="1628295" cy="599603"/>
              <a:chOff x="0" y="0"/>
              <a:chExt cx="1628295" cy="599603"/>
            </a:xfrm>
          </p:grpSpPr>
          <p:sp>
            <p:nvSpPr>
              <p:cNvPr name="Freeform 132" id="132"/>
              <p:cNvSpPr/>
              <p:nvPr/>
            </p:nvSpPr>
            <p:spPr>
              <a:xfrm flipH="false" flipV="false" rot="0">
                <a:off x="0" y="0"/>
                <a:ext cx="1628295" cy="599603"/>
              </a:xfrm>
              <a:custGeom>
                <a:avLst/>
                <a:gdLst/>
                <a:ahLst/>
                <a:cxnLst/>
                <a:rect r="r" b="b" t="t" l="l"/>
                <a:pathLst>
                  <a:path h="599603" w="1628295">
                    <a:moveTo>
                      <a:pt x="0" y="0"/>
                    </a:moveTo>
                    <a:lnTo>
                      <a:pt x="1628295" y="0"/>
                    </a:lnTo>
                    <a:lnTo>
                      <a:pt x="1628295" y="599603"/>
                    </a:lnTo>
                    <a:lnTo>
                      <a:pt x="0" y="59960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961" t="0" r="-2792" b="-9800"/>
                </a:stretch>
              </a:blipFill>
            </p:spPr>
          </p:sp>
          <p:sp>
            <p:nvSpPr>
              <p:cNvPr name="TextBox 133" id="133"/>
              <p:cNvSpPr txBox="true"/>
              <p:nvPr/>
            </p:nvSpPr>
            <p:spPr>
              <a:xfrm>
                <a:off x="0" y="-9525"/>
                <a:ext cx="1628295" cy="6091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6'00</a:t>
                </a:r>
              </a:p>
            </p:txBody>
          </p:sp>
        </p:grpSp>
        <p:grpSp>
          <p:nvGrpSpPr>
            <p:cNvPr name="Group 134" id="134"/>
            <p:cNvGrpSpPr/>
            <p:nvPr/>
          </p:nvGrpSpPr>
          <p:grpSpPr>
            <a:xfrm rot="0">
              <a:off x="3831282" y="0"/>
              <a:ext cx="1644919" cy="615021"/>
              <a:chOff x="0" y="0"/>
              <a:chExt cx="1644919" cy="615021"/>
            </a:xfrm>
          </p:grpSpPr>
          <p:sp>
            <p:nvSpPr>
              <p:cNvPr name="Freeform 135" id="135"/>
              <p:cNvSpPr/>
              <p:nvPr/>
            </p:nvSpPr>
            <p:spPr>
              <a:xfrm flipH="false" flipV="false" rot="0">
                <a:off x="8356" y="7750"/>
                <a:ext cx="1628295" cy="599603"/>
              </a:xfrm>
              <a:custGeom>
                <a:avLst/>
                <a:gdLst/>
                <a:ahLst/>
                <a:cxnLst/>
                <a:rect r="r" b="b" t="t" l="l"/>
                <a:pathLst>
                  <a:path h="599603" w="1628295">
                    <a:moveTo>
                      <a:pt x="0" y="0"/>
                    </a:moveTo>
                    <a:lnTo>
                      <a:pt x="1628295" y="0"/>
                    </a:lnTo>
                    <a:lnTo>
                      <a:pt x="1628295" y="599603"/>
                    </a:lnTo>
                    <a:lnTo>
                      <a:pt x="0" y="599603"/>
                    </a:lnTo>
                    <a:close/>
                  </a:path>
                </a:pathLst>
              </a:custGeom>
              <a:solidFill>
                <a:srgbClr val="2C4060"/>
              </a:solidFill>
            </p:spPr>
          </p:sp>
          <p:sp>
            <p:nvSpPr>
              <p:cNvPr name="Freeform 136" id="136"/>
              <p:cNvSpPr/>
              <p:nvPr/>
            </p:nvSpPr>
            <p:spPr>
              <a:xfrm flipH="false" flipV="false" rot="0">
                <a:off x="0" y="0"/>
                <a:ext cx="1645008" cy="615110"/>
              </a:xfrm>
              <a:custGeom>
                <a:avLst/>
                <a:gdLst/>
                <a:ahLst/>
                <a:cxnLst/>
                <a:rect r="r" b="b" t="t" l="l"/>
                <a:pathLst>
                  <a:path h="615110" w="1645008">
                    <a:moveTo>
                      <a:pt x="8356" y="0"/>
                    </a:moveTo>
                    <a:lnTo>
                      <a:pt x="1636651" y="0"/>
                    </a:lnTo>
                    <a:cubicBezTo>
                      <a:pt x="1641265" y="0"/>
                      <a:pt x="1645008" y="3470"/>
                      <a:pt x="1645008" y="7750"/>
                    </a:cubicBezTo>
                    <a:lnTo>
                      <a:pt x="1645008" y="607353"/>
                    </a:lnTo>
                    <a:cubicBezTo>
                      <a:pt x="1645008" y="611632"/>
                      <a:pt x="1641265" y="615110"/>
                      <a:pt x="1636651" y="615110"/>
                    </a:cubicBezTo>
                    <a:lnTo>
                      <a:pt x="8356" y="615110"/>
                    </a:lnTo>
                    <a:cubicBezTo>
                      <a:pt x="3741" y="615110"/>
                      <a:pt x="0" y="611632"/>
                      <a:pt x="0" y="607353"/>
                    </a:cubicBezTo>
                    <a:lnTo>
                      <a:pt x="0" y="7750"/>
                    </a:lnTo>
                    <a:cubicBezTo>
                      <a:pt x="0" y="3470"/>
                      <a:pt x="3741" y="0"/>
                      <a:pt x="8356" y="0"/>
                    </a:cubicBezTo>
                    <a:moveTo>
                      <a:pt x="8356" y="15383"/>
                    </a:moveTo>
                    <a:lnTo>
                      <a:pt x="8356" y="7750"/>
                    </a:lnTo>
                    <a:lnTo>
                      <a:pt x="16712" y="7750"/>
                    </a:lnTo>
                    <a:lnTo>
                      <a:pt x="16712" y="607353"/>
                    </a:lnTo>
                    <a:lnTo>
                      <a:pt x="8356" y="607353"/>
                    </a:lnTo>
                    <a:lnTo>
                      <a:pt x="8356" y="599603"/>
                    </a:lnTo>
                    <a:lnTo>
                      <a:pt x="1636651" y="599603"/>
                    </a:lnTo>
                    <a:lnTo>
                      <a:pt x="1636651" y="607353"/>
                    </a:lnTo>
                    <a:lnTo>
                      <a:pt x="1628295" y="607353"/>
                    </a:lnTo>
                    <a:lnTo>
                      <a:pt x="1628295" y="7750"/>
                    </a:lnTo>
                    <a:lnTo>
                      <a:pt x="1636651" y="7750"/>
                    </a:lnTo>
                    <a:lnTo>
                      <a:pt x="1636651" y="15499"/>
                    </a:lnTo>
                    <a:lnTo>
                      <a:pt x="8356" y="15499"/>
                    </a:lnTo>
                    <a:close/>
                  </a:path>
                </a:pathLst>
              </a:custGeom>
              <a:solidFill>
                <a:srgbClr val="4A6FA5"/>
              </a:solidFill>
            </p:spPr>
          </p:sp>
        </p:grpSp>
        <p:grpSp>
          <p:nvGrpSpPr>
            <p:cNvPr name="Group 137" id="137"/>
            <p:cNvGrpSpPr/>
            <p:nvPr/>
          </p:nvGrpSpPr>
          <p:grpSpPr>
            <a:xfrm rot="0">
              <a:off x="3839600" y="7715"/>
              <a:ext cx="1628295" cy="599603"/>
              <a:chOff x="0" y="0"/>
              <a:chExt cx="1628295" cy="599603"/>
            </a:xfrm>
          </p:grpSpPr>
          <p:sp>
            <p:nvSpPr>
              <p:cNvPr name="Freeform 138" id="138"/>
              <p:cNvSpPr/>
              <p:nvPr/>
            </p:nvSpPr>
            <p:spPr>
              <a:xfrm flipH="false" flipV="false" rot="0">
                <a:off x="0" y="0"/>
                <a:ext cx="1628295" cy="599603"/>
              </a:xfrm>
              <a:custGeom>
                <a:avLst/>
                <a:gdLst/>
                <a:ahLst/>
                <a:cxnLst/>
                <a:rect r="r" b="b" t="t" l="l"/>
                <a:pathLst>
                  <a:path h="599603" w="1628295">
                    <a:moveTo>
                      <a:pt x="0" y="0"/>
                    </a:moveTo>
                    <a:lnTo>
                      <a:pt x="1628295" y="0"/>
                    </a:lnTo>
                    <a:lnTo>
                      <a:pt x="1628295" y="599603"/>
                    </a:lnTo>
                    <a:lnTo>
                      <a:pt x="0" y="59960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961" t="0" r="-2792" b="-9800"/>
                </a:stretch>
              </a:blipFill>
            </p:spPr>
          </p:sp>
          <p:sp>
            <p:nvSpPr>
              <p:cNvPr name="TextBox 139" id="139"/>
              <p:cNvSpPr txBox="true"/>
              <p:nvPr/>
            </p:nvSpPr>
            <p:spPr>
              <a:xfrm>
                <a:off x="0" y="-9525"/>
                <a:ext cx="1628295" cy="6091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6'30</a:t>
                </a:r>
              </a:p>
            </p:txBody>
          </p:sp>
        </p:grpSp>
        <p:grpSp>
          <p:nvGrpSpPr>
            <p:cNvPr name="Group 140" id="140"/>
            <p:cNvGrpSpPr/>
            <p:nvPr/>
          </p:nvGrpSpPr>
          <p:grpSpPr>
            <a:xfrm rot="0">
              <a:off x="7399163" y="0"/>
              <a:ext cx="1644919" cy="615021"/>
              <a:chOff x="0" y="0"/>
              <a:chExt cx="1644919" cy="615021"/>
            </a:xfrm>
          </p:grpSpPr>
          <p:sp>
            <p:nvSpPr>
              <p:cNvPr name="Freeform 141" id="141"/>
              <p:cNvSpPr/>
              <p:nvPr/>
            </p:nvSpPr>
            <p:spPr>
              <a:xfrm flipH="false" flipV="false" rot="0">
                <a:off x="8356" y="7750"/>
                <a:ext cx="1628295" cy="599603"/>
              </a:xfrm>
              <a:custGeom>
                <a:avLst/>
                <a:gdLst/>
                <a:ahLst/>
                <a:cxnLst/>
                <a:rect r="r" b="b" t="t" l="l"/>
                <a:pathLst>
                  <a:path h="599603" w="1628295">
                    <a:moveTo>
                      <a:pt x="0" y="0"/>
                    </a:moveTo>
                    <a:lnTo>
                      <a:pt x="1628295" y="0"/>
                    </a:lnTo>
                    <a:lnTo>
                      <a:pt x="1628295" y="599603"/>
                    </a:lnTo>
                    <a:lnTo>
                      <a:pt x="0" y="599603"/>
                    </a:lnTo>
                    <a:close/>
                  </a:path>
                </a:pathLst>
              </a:custGeom>
              <a:solidFill>
                <a:srgbClr val="2C4060"/>
              </a:solidFill>
            </p:spPr>
          </p:sp>
          <p:sp>
            <p:nvSpPr>
              <p:cNvPr name="Freeform 142" id="142"/>
              <p:cNvSpPr/>
              <p:nvPr/>
            </p:nvSpPr>
            <p:spPr>
              <a:xfrm flipH="false" flipV="false" rot="0">
                <a:off x="0" y="0"/>
                <a:ext cx="1645008" cy="615110"/>
              </a:xfrm>
              <a:custGeom>
                <a:avLst/>
                <a:gdLst/>
                <a:ahLst/>
                <a:cxnLst/>
                <a:rect r="r" b="b" t="t" l="l"/>
                <a:pathLst>
                  <a:path h="615110" w="1645008">
                    <a:moveTo>
                      <a:pt x="8356" y="0"/>
                    </a:moveTo>
                    <a:lnTo>
                      <a:pt x="1636651" y="0"/>
                    </a:lnTo>
                    <a:cubicBezTo>
                      <a:pt x="1641265" y="0"/>
                      <a:pt x="1645008" y="3470"/>
                      <a:pt x="1645008" y="7750"/>
                    </a:cubicBezTo>
                    <a:lnTo>
                      <a:pt x="1645008" y="607353"/>
                    </a:lnTo>
                    <a:cubicBezTo>
                      <a:pt x="1645008" y="611632"/>
                      <a:pt x="1641265" y="615110"/>
                      <a:pt x="1636651" y="615110"/>
                    </a:cubicBezTo>
                    <a:lnTo>
                      <a:pt x="8356" y="615110"/>
                    </a:lnTo>
                    <a:cubicBezTo>
                      <a:pt x="3741" y="615110"/>
                      <a:pt x="0" y="611632"/>
                      <a:pt x="0" y="607353"/>
                    </a:cubicBezTo>
                    <a:lnTo>
                      <a:pt x="0" y="7750"/>
                    </a:lnTo>
                    <a:cubicBezTo>
                      <a:pt x="0" y="3470"/>
                      <a:pt x="3741" y="0"/>
                      <a:pt x="8356" y="0"/>
                    </a:cubicBezTo>
                    <a:moveTo>
                      <a:pt x="8356" y="15383"/>
                    </a:moveTo>
                    <a:lnTo>
                      <a:pt x="8356" y="7750"/>
                    </a:lnTo>
                    <a:lnTo>
                      <a:pt x="16712" y="7750"/>
                    </a:lnTo>
                    <a:lnTo>
                      <a:pt x="16712" y="607353"/>
                    </a:lnTo>
                    <a:lnTo>
                      <a:pt x="8356" y="607353"/>
                    </a:lnTo>
                    <a:lnTo>
                      <a:pt x="8356" y="599603"/>
                    </a:lnTo>
                    <a:lnTo>
                      <a:pt x="1636651" y="599603"/>
                    </a:lnTo>
                    <a:lnTo>
                      <a:pt x="1636651" y="607353"/>
                    </a:lnTo>
                    <a:lnTo>
                      <a:pt x="1628295" y="607353"/>
                    </a:lnTo>
                    <a:lnTo>
                      <a:pt x="1628295" y="7750"/>
                    </a:lnTo>
                    <a:lnTo>
                      <a:pt x="1636651" y="7750"/>
                    </a:lnTo>
                    <a:lnTo>
                      <a:pt x="1636651" y="15499"/>
                    </a:lnTo>
                    <a:lnTo>
                      <a:pt x="8356" y="15499"/>
                    </a:lnTo>
                    <a:close/>
                  </a:path>
                </a:pathLst>
              </a:custGeom>
              <a:solidFill>
                <a:srgbClr val="4A6FA5"/>
              </a:solidFill>
            </p:spPr>
          </p:sp>
        </p:grpSp>
        <p:grpSp>
          <p:nvGrpSpPr>
            <p:cNvPr name="Group 143" id="143"/>
            <p:cNvGrpSpPr/>
            <p:nvPr/>
          </p:nvGrpSpPr>
          <p:grpSpPr>
            <a:xfrm rot="0">
              <a:off x="7407481" y="7715"/>
              <a:ext cx="1628295" cy="599603"/>
              <a:chOff x="0" y="0"/>
              <a:chExt cx="1628295" cy="599603"/>
            </a:xfrm>
          </p:grpSpPr>
          <p:sp>
            <p:nvSpPr>
              <p:cNvPr name="Freeform 144" id="144"/>
              <p:cNvSpPr/>
              <p:nvPr/>
            </p:nvSpPr>
            <p:spPr>
              <a:xfrm flipH="false" flipV="false" rot="0">
                <a:off x="0" y="0"/>
                <a:ext cx="1628295" cy="599603"/>
              </a:xfrm>
              <a:custGeom>
                <a:avLst/>
                <a:gdLst/>
                <a:ahLst/>
                <a:cxnLst/>
                <a:rect r="r" b="b" t="t" l="l"/>
                <a:pathLst>
                  <a:path h="599603" w="1628295">
                    <a:moveTo>
                      <a:pt x="0" y="0"/>
                    </a:moveTo>
                    <a:lnTo>
                      <a:pt x="1628295" y="0"/>
                    </a:lnTo>
                    <a:lnTo>
                      <a:pt x="1628295" y="599603"/>
                    </a:lnTo>
                    <a:lnTo>
                      <a:pt x="0" y="59960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961" t="0" r="-2792" b="-9800"/>
                </a:stretch>
              </a:blipFill>
            </p:spPr>
          </p:sp>
          <p:sp>
            <p:nvSpPr>
              <p:cNvPr name="TextBox 145" id="145"/>
              <p:cNvSpPr txBox="true"/>
              <p:nvPr/>
            </p:nvSpPr>
            <p:spPr>
              <a:xfrm>
                <a:off x="0" y="-9525"/>
                <a:ext cx="1628295" cy="6091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5'30</a:t>
                </a:r>
              </a:p>
            </p:txBody>
          </p:sp>
        </p:grpSp>
        <p:grpSp>
          <p:nvGrpSpPr>
            <p:cNvPr name="Group 146" id="146"/>
            <p:cNvGrpSpPr/>
            <p:nvPr/>
          </p:nvGrpSpPr>
          <p:grpSpPr>
            <a:xfrm rot="0">
              <a:off x="9314803" y="0"/>
              <a:ext cx="1644919" cy="615021"/>
              <a:chOff x="0" y="0"/>
              <a:chExt cx="1644919" cy="615021"/>
            </a:xfrm>
          </p:grpSpPr>
          <p:sp>
            <p:nvSpPr>
              <p:cNvPr name="Freeform 147" id="147"/>
              <p:cNvSpPr/>
              <p:nvPr/>
            </p:nvSpPr>
            <p:spPr>
              <a:xfrm flipH="false" flipV="false" rot="0">
                <a:off x="8356" y="7750"/>
                <a:ext cx="1628295" cy="599603"/>
              </a:xfrm>
              <a:custGeom>
                <a:avLst/>
                <a:gdLst/>
                <a:ahLst/>
                <a:cxnLst/>
                <a:rect r="r" b="b" t="t" l="l"/>
                <a:pathLst>
                  <a:path h="599603" w="1628295">
                    <a:moveTo>
                      <a:pt x="0" y="0"/>
                    </a:moveTo>
                    <a:lnTo>
                      <a:pt x="1628295" y="0"/>
                    </a:lnTo>
                    <a:lnTo>
                      <a:pt x="1628295" y="599603"/>
                    </a:lnTo>
                    <a:lnTo>
                      <a:pt x="0" y="599603"/>
                    </a:lnTo>
                    <a:close/>
                  </a:path>
                </a:pathLst>
              </a:custGeom>
              <a:solidFill>
                <a:srgbClr val="2C4060"/>
              </a:solidFill>
            </p:spPr>
          </p:sp>
          <p:sp>
            <p:nvSpPr>
              <p:cNvPr name="Freeform 148" id="148"/>
              <p:cNvSpPr/>
              <p:nvPr/>
            </p:nvSpPr>
            <p:spPr>
              <a:xfrm flipH="false" flipV="false" rot="0">
                <a:off x="0" y="0"/>
                <a:ext cx="1645008" cy="615110"/>
              </a:xfrm>
              <a:custGeom>
                <a:avLst/>
                <a:gdLst/>
                <a:ahLst/>
                <a:cxnLst/>
                <a:rect r="r" b="b" t="t" l="l"/>
                <a:pathLst>
                  <a:path h="615110" w="1645008">
                    <a:moveTo>
                      <a:pt x="8356" y="0"/>
                    </a:moveTo>
                    <a:lnTo>
                      <a:pt x="1636651" y="0"/>
                    </a:lnTo>
                    <a:cubicBezTo>
                      <a:pt x="1641265" y="0"/>
                      <a:pt x="1645008" y="3470"/>
                      <a:pt x="1645008" y="7750"/>
                    </a:cubicBezTo>
                    <a:lnTo>
                      <a:pt x="1645008" y="607353"/>
                    </a:lnTo>
                    <a:cubicBezTo>
                      <a:pt x="1645008" y="611632"/>
                      <a:pt x="1641265" y="615110"/>
                      <a:pt x="1636651" y="615110"/>
                    </a:cubicBezTo>
                    <a:lnTo>
                      <a:pt x="8356" y="615110"/>
                    </a:lnTo>
                    <a:cubicBezTo>
                      <a:pt x="3741" y="615110"/>
                      <a:pt x="0" y="611632"/>
                      <a:pt x="0" y="607353"/>
                    </a:cubicBezTo>
                    <a:lnTo>
                      <a:pt x="0" y="7750"/>
                    </a:lnTo>
                    <a:cubicBezTo>
                      <a:pt x="0" y="3470"/>
                      <a:pt x="3741" y="0"/>
                      <a:pt x="8356" y="0"/>
                    </a:cubicBezTo>
                    <a:moveTo>
                      <a:pt x="8356" y="15383"/>
                    </a:moveTo>
                    <a:lnTo>
                      <a:pt x="8356" y="7750"/>
                    </a:lnTo>
                    <a:lnTo>
                      <a:pt x="16712" y="7750"/>
                    </a:lnTo>
                    <a:lnTo>
                      <a:pt x="16712" y="607353"/>
                    </a:lnTo>
                    <a:lnTo>
                      <a:pt x="8356" y="607353"/>
                    </a:lnTo>
                    <a:lnTo>
                      <a:pt x="8356" y="599603"/>
                    </a:lnTo>
                    <a:lnTo>
                      <a:pt x="1636651" y="599603"/>
                    </a:lnTo>
                    <a:lnTo>
                      <a:pt x="1636651" y="607353"/>
                    </a:lnTo>
                    <a:lnTo>
                      <a:pt x="1628295" y="607353"/>
                    </a:lnTo>
                    <a:lnTo>
                      <a:pt x="1628295" y="7750"/>
                    </a:lnTo>
                    <a:lnTo>
                      <a:pt x="1636651" y="7750"/>
                    </a:lnTo>
                    <a:lnTo>
                      <a:pt x="1636651" y="15499"/>
                    </a:lnTo>
                    <a:lnTo>
                      <a:pt x="8356" y="15499"/>
                    </a:lnTo>
                    <a:close/>
                  </a:path>
                </a:pathLst>
              </a:custGeom>
              <a:solidFill>
                <a:srgbClr val="4A6FA5"/>
              </a:solidFill>
            </p:spPr>
          </p:sp>
        </p:grpSp>
        <p:grpSp>
          <p:nvGrpSpPr>
            <p:cNvPr name="Group 149" id="149"/>
            <p:cNvGrpSpPr/>
            <p:nvPr/>
          </p:nvGrpSpPr>
          <p:grpSpPr>
            <a:xfrm rot="0">
              <a:off x="9323122" y="7715"/>
              <a:ext cx="1628295" cy="599603"/>
              <a:chOff x="0" y="0"/>
              <a:chExt cx="1628295" cy="599603"/>
            </a:xfrm>
          </p:grpSpPr>
          <p:sp>
            <p:nvSpPr>
              <p:cNvPr name="Freeform 150" id="150"/>
              <p:cNvSpPr/>
              <p:nvPr/>
            </p:nvSpPr>
            <p:spPr>
              <a:xfrm flipH="false" flipV="false" rot="0">
                <a:off x="0" y="0"/>
                <a:ext cx="1628295" cy="599603"/>
              </a:xfrm>
              <a:custGeom>
                <a:avLst/>
                <a:gdLst/>
                <a:ahLst/>
                <a:cxnLst/>
                <a:rect r="r" b="b" t="t" l="l"/>
                <a:pathLst>
                  <a:path h="599603" w="1628295">
                    <a:moveTo>
                      <a:pt x="0" y="0"/>
                    </a:moveTo>
                    <a:lnTo>
                      <a:pt x="1628295" y="0"/>
                    </a:lnTo>
                    <a:lnTo>
                      <a:pt x="1628295" y="599603"/>
                    </a:lnTo>
                    <a:lnTo>
                      <a:pt x="0" y="59960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961" t="0" r="-2792" b="-9800"/>
                </a:stretch>
              </a:blipFill>
            </p:spPr>
          </p:sp>
          <p:sp>
            <p:nvSpPr>
              <p:cNvPr name="TextBox 151" id="151"/>
              <p:cNvSpPr txBox="true"/>
              <p:nvPr/>
            </p:nvSpPr>
            <p:spPr>
              <a:xfrm>
                <a:off x="0" y="-9525"/>
                <a:ext cx="1628295" cy="6091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6'00</a:t>
                </a:r>
              </a:p>
            </p:txBody>
          </p:sp>
        </p:grpSp>
        <p:grpSp>
          <p:nvGrpSpPr>
            <p:cNvPr name="Group 152" id="152"/>
            <p:cNvGrpSpPr/>
            <p:nvPr/>
          </p:nvGrpSpPr>
          <p:grpSpPr>
            <a:xfrm rot="0">
              <a:off x="11230444" y="0"/>
              <a:ext cx="1644919" cy="615021"/>
              <a:chOff x="0" y="0"/>
              <a:chExt cx="1644919" cy="615021"/>
            </a:xfrm>
          </p:grpSpPr>
          <p:sp>
            <p:nvSpPr>
              <p:cNvPr name="Freeform 153" id="153"/>
              <p:cNvSpPr/>
              <p:nvPr/>
            </p:nvSpPr>
            <p:spPr>
              <a:xfrm flipH="false" flipV="false" rot="0">
                <a:off x="8356" y="7750"/>
                <a:ext cx="1628295" cy="599603"/>
              </a:xfrm>
              <a:custGeom>
                <a:avLst/>
                <a:gdLst/>
                <a:ahLst/>
                <a:cxnLst/>
                <a:rect r="r" b="b" t="t" l="l"/>
                <a:pathLst>
                  <a:path h="599603" w="1628295">
                    <a:moveTo>
                      <a:pt x="0" y="0"/>
                    </a:moveTo>
                    <a:lnTo>
                      <a:pt x="1628295" y="0"/>
                    </a:lnTo>
                    <a:lnTo>
                      <a:pt x="1628295" y="599603"/>
                    </a:lnTo>
                    <a:lnTo>
                      <a:pt x="0" y="599603"/>
                    </a:lnTo>
                    <a:close/>
                  </a:path>
                </a:pathLst>
              </a:custGeom>
              <a:solidFill>
                <a:srgbClr val="2C4060"/>
              </a:solidFill>
            </p:spPr>
          </p:sp>
          <p:sp>
            <p:nvSpPr>
              <p:cNvPr name="Freeform 154" id="154"/>
              <p:cNvSpPr/>
              <p:nvPr/>
            </p:nvSpPr>
            <p:spPr>
              <a:xfrm flipH="false" flipV="false" rot="0">
                <a:off x="0" y="0"/>
                <a:ext cx="1645008" cy="615110"/>
              </a:xfrm>
              <a:custGeom>
                <a:avLst/>
                <a:gdLst/>
                <a:ahLst/>
                <a:cxnLst/>
                <a:rect r="r" b="b" t="t" l="l"/>
                <a:pathLst>
                  <a:path h="615110" w="1645008">
                    <a:moveTo>
                      <a:pt x="8356" y="0"/>
                    </a:moveTo>
                    <a:lnTo>
                      <a:pt x="1636651" y="0"/>
                    </a:lnTo>
                    <a:cubicBezTo>
                      <a:pt x="1641265" y="0"/>
                      <a:pt x="1645008" y="3470"/>
                      <a:pt x="1645008" y="7750"/>
                    </a:cubicBezTo>
                    <a:lnTo>
                      <a:pt x="1645008" y="607353"/>
                    </a:lnTo>
                    <a:cubicBezTo>
                      <a:pt x="1645008" y="611632"/>
                      <a:pt x="1641265" y="615110"/>
                      <a:pt x="1636651" y="615110"/>
                    </a:cubicBezTo>
                    <a:lnTo>
                      <a:pt x="8356" y="615110"/>
                    </a:lnTo>
                    <a:cubicBezTo>
                      <a:pt x="3741" y="615110"/>
                      <a:pt x="0" y="611632"/>
                      <a:pt x="0" y="607353"/>
                    </a:cubicBezTo>
                    <a:lnTo>
                      <a:pt x="0" y="7750"/>
                    </a:lnTo>
                    <a:cubicBezTo>
                      <a:pt x="0" y="3470"/>
                      <a:pt x="3741" y="0"/>
                      <a:pt x="8356" y="0"/>
                    </a:cubicBezTo>
                    <a:moveTo>
                      <a:pt x="8356" y="15383"/>
                    </a:moveTo>
                    <a:lnTo>
                      <a:pt x="8356" y="7750"/>
                    </a:lnTo>
                    <a:lnTo>
                      <a:pt x="16712" y="7750"/>
                    </a:lnTo>
                    <a:lnTo>
                      <a:pt x="16712" y="607353"/>
                    </a:lnTo>
                    <a:lnTo>
                      <a:pt x="8356" y="607353"/>
                    </a:lnTo>
                    <a:lnTo>
                      <a:pt x="8356" y="599603"/>
                    </a:lnTo>
                    <a:lnTo>
                      <a:pt x="1636651" y="599603"/>
                    </a:lnTo>
                    <a:lnTo>
                      <a:pt x="1636651" y="607353"/>
                    </a:lnTo>
                    <a:lnTo>
                      <a:pt x="1628295" y="607353"/>
                    </a:lnTo>
                    <a:lnTo>
                      <a:pt x="1628295" y="7750"/>
                    </a:lnTo>
                    <a:lnTo>
                      <a:pt x="1636651" y="7750"/>
                    </a:lnTo>
                    <a:lnTo>
                      <a:pt x="1636651" y="15499"/>
                    </a:lnTo>
                    <a:lnTo>
                      <a:pt x="8356" y="15499"/>
                    </a:lnTo>
                    <a:close/>
                  </a:path>
                </a:pathLst>
              </a:custGeom>
              <a:solidFill>
                <a:srgbClr val="4A6FA5"/>
              </a:solidFill>
            </p:spPr>
          </p:sp>
        </p:grpSp>
        <p:grpSp>
          <p:nvGrpSpPr>
            <p:cNvPr name="Group 155" id="155"/>
            <p:cNvGrpSpPr/>
            <p:nvPr/>
          </p:nvGrpSpPr>
          <p:grpSpPr>
            <a:xfrm rot="0">
              <a:off x="11238763" y="7715"/>
              <a:ext cx="1628295" cy="599603"/>
              <a:chOff x="0" y="0"/>
              <a:chExt cx="1628295" cy="599603"/>
            </a:xfrm>
          </p:grpSpPr>
          <p:sp>
            <p:nvSpPr>
              <p:cNvPr name="Freeform 156" id="156"/>
              <p:cNvSpPr/>
              <p:nvPr/>
            </p:nvSpPr>
            <p:spPr>
              <a:xfrm flipH="false" flipV="false" rot="0">
                <a:off x="0" y="0"/>
                <a:ext cx="1628295" cy="599603"/>
              </a:xfrm>
              <a:custGeom>
                <a:avLst/>
                <a:gdLst/>
                <a:ahLst/>
                <a:cxnLst/>
                <a:rect r="r" b="b" t="t" l="l"/>
                <a:pathLst>
                  <a:path h="599603" w="1628295">
                    <a:moveTo>
                      <a:pt x="0" y="0"/>
                    </a:moveTo>
                    <a:lnTo>
                      <a:pt x="1628295" y="0"/>
                    </a:lnTo>
                    <a:lnTo>
                      <a:pt x="1628295" y="599603"/>
                    </a:lnTo>
                    <a:lnTo>
                      <a:pt x="0" y="59960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961" t="0" r="-2792" b="-9800"/>
                </a:stretch>
              </a:blipFill>
            </p:spPr>
          </p:sp>
          <p:sp>
            <p:nvSpPr>
              <p:cNvPr name="TextBox 157" id="157"/>
              <p:cNvSpPr txBox="true"/>
              <p:nvPr/>
            </p:nvSpPr>
            <p:spPr>
              <a:xfrm>
                <a:off x="0" y="-9525"/>
                <a:ext cx="1628295" cy="6091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6'30</a:t>
                </a:r>
              </a:p>
            </p:txBody>
          </p:sp>
        </p:grpSp>
      </p:grpSp>
      <p:grpSp>
        <p:nvGrpSpPr>
          <p:cNvPr name="Group 158" id="158"/>
          <p:cNvGrpSpPr/>
          <p:nvPr/>
        </p:nvGrpSpPr>
        <p:grpSpPr>
          <a:xfrm rot="0">
            <a:off x="0" y="9862823"/>
            <a:ext cx="18288000" cy="327918"/>
            <a:chOff x="0" y="0"/>
            <a:chExt cx="24384000" cy="437224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4384000" cy="437222"/>
            </a:xfrm>
            <a:custGeom>
              <a:avLst/>
              <a:gdLst/>
              <a:ahLst/>
              <a:cxnLst/>
              <a:rect r="r" b="b" t="t" l="l"/>
              <a:pathLst>
                <a:path h="43722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37222"/>
                  </a:lnTo>
                  <a:lnTo>
                    <a:pt x="0" y="437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956" r="0" b="-1025416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24384000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Le ciel est bleu running club</a:t>
              </a: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· Paris</a:t>
              </a:r>
            </a:p>
          </p:txBody>
        </p:sp>
      </p:grpSp>
      <p:sp>
        <p:nvSpPr>
          <p:cNvPr name="Freeform 161" id="161"/>
          <p:cNvSpPr/>
          <p:nvPr/>
        </p:nvSpPr>
        <p:spPr>
          <a:xfrm flipH="false" flipV="false" rot="0">
            <a:off x="10074130" y="203998"/>
            <a:ext cx="5916791" cy="2611810"/>
          </a:xfrm>
          <a:custGeom>
            <a:avLst/>
            <a:gdLst/>
            <a:ahLst/>
            <a:cxnLst/>
            <a:rect r="r" b="b" t="t" l="l"/>
            <a:pathLst>
              <a:path h="2611810" w="5916791">
                <a:moveTo>
                  <a:pt x="0" y="0"/>
                </a:moveTo>
                <a:lnTo>
                  <a:pt x="5916791" y="0"/>
                </a:lnTo>
                <a:lnTo>
                  <a:pt x="5916791" y="2611810"/>
                </a:lnTo>
                <a:lnTo>
                  <a:pt x="0" y="26118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3977" r="0" b="-35927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68151"/>
            <a:ext cx="16459200" cy="692497"/>
            <a:chOff x="0" y="0"/>
            <a:chExt cx="21945600" cy="923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923325"/>
            </a:xfrm>
            <a:custGeom>
              <a:avLst/>
              <a:gdLst/>
              <a:ahLst/>
              <a:cxnLst/>
              <a:rect r="r" b="b" t="t" l="l"/>
              <a:pathLst>
                <a:path h="92332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3325"/>
                  </a:lnTo>
                  <a:lnTo>
                    <a:pt x="0" y="9233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225" r="0" b="-398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945600" cy="970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Ce qu’on peut vous apporter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6900" y="5432398"/>
            <a:ext cx="1280315" cy="1185276"/>
            <a:chOff x="0" y="0"/>
            <a:chExt cx="337202" cy="3121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7202" cy="312171"/>
            </a:xfrm>
            <a:custGeom>
              <a:avLst/>
              <a:gdLst/>
              <a:ahLst/>
              <a:cxnLst/>
              <a:rect r="r" b="b" t="t" l="l"/>
              <a:pathLst>
                <a:path h="312171" w="337202">
                  <a:moveTo>
                    <a:pt x="0" y="0"/>
                  </a:moveTo>
                  <a:lnTo>
                    <a:pt x="337202" y="0"/>
                  </a:lnTo>
                  <a:lnTo>
                    <a:pt x="337202" y="312171"/>
                  </a:lnTo>
                  <a:lnTo>
                    <a:pt x="0" y="312171"/>
                  </a:lnTo>
                  <a:close/>
                </a:path>
              </a:pathLst>
            </a:custGeom>
            <a:solidFill>
              <a:srgbClr val="122B4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37202" cy="312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27121" y="8534149"/>
            <a:ext cx="1280315" cy="1214638"/>
            <a:chOff x="0" y="0"/>
            <a:chExt cx="337202" cy="3199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7202" cy="319905"/>
            </a:xfrm>
            <a:custGeom>
              <a:avLst/>
              <a:gdLst/>
              <a:ahLst/>
              <a:cxnLst/>
              <a:rect r="r" b="b" t="t" l="l"/>
              <a:pathLst>
                <a:path h="319905" w="337202">
                  <a:moveTo>
                    <a:pt x="0" y="0"/>
                  </a:moveTo>
                  <a:lnTo>
                    <a:pt x="337202" y="0"/>
                  </a:lnTo>
                  <a:lnTo>
                    <a:pt x="337202" y="319905"/>
                  </a:lnTo>
                  <a:lnTo>
                    <a:pt x="0" y="319905"/>
                  </a:lnTo>
                  <a:close/>
                </a:path>
              </a:pathLst>
            </a:custGeom>
            <a:solidFill>
              <a:srgbClr val="122B4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37202" cy="319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26900" y="3857294"/>
            <a:ext cx="1280315" cy="1219052"/>
            <a:chOff x="0" y="0"/>
            <a:chExt cx="337202" cy="3210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7202" cy="321067"/>
            </a:xfrm>
            <a:custGeom>
              <a:avLst/>
              <a:gdLst/>
              <a:ahLst/>
              <a:cxnLst/>
              <a:rect r="r" b="b" t="t" l="l"/>
              <a:pathLst>
                <a:path h="321067" w="337202">
                  <a:moveTo>
                    <a:pt x="0" y="0"/>
                  </a:moveTo>
                  <a:lnTo>
                    <a:pt x="337202" y="0"/>
                  </a:lnTo>
                  <a:lnTo>
                    <a:pt x="337202" y="321067"/>
                  </a:lnTo>
                  <a:lnTo>
                    <a:pt x="0" y="321067"/>
                  </a:lnTo>
                  <a:close/>
                </a:path>
              </a:pathLst>
            </a:custGeom>
            <a:solidFill>
              <a:srgbClr val="798FA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37202" cy="32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6900" y="2298400"/>
            <a:ext cx="1280315" cy="1219052"/>
            <a:chOff x="0" y="0"/>
            <a:chExt cx="337202" cy="3210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7202" cy="321067"/>
            </a:xfrm>
            <a:custGeom>
              <a:avLst/>
              <a:gdLst/>
              <a:ahLst/>
              <a:cxnLst/>
              <a:rect r="r" b="b" t="t" l="l"/>
              <a:pathLst>
                <a:path h="321067" w="337202">
                  <a:moveTo>
                    <a:pt x="0" y="0"/>
                  </a:moveTo>
                  <a:lnTo>
                    <a:pt x="337202" y="0"/>
                  </a:lnTo>
                  <a:lnTo>
                    <a:pt x="337202" y="321067"/>
                  </a:lnTo>
                  <a:lnTo>
                    <a:pt x="0" y="321067"/>
                  </a:lnTo>
                  <a:close/>
                </a:path>
              </a:pathLst>
            </a:custGeom>
            <a:solidFill>
              <a:srgbClr val="122B4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37202" cy="32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7121" y="6975933"/>
            <a:ext cx="1280315" cy="1214638"/>
            <a:chOff x="0" y="0"/>
            <a:chExt cx="337202" cy="3199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7202" cy="319905"/>
            </a:xfrm>
            <a:custGeom>
              <a:avLst/>
              <a:gdLst/>
              <a:ahLst/>
              <a:cxnLst/>
              <a:rect r="r" b="b" t="t" l="l"/>
              <a:pathLst>
                <a:path h="319905" w="337202">
                  <a:moveTo>
                    <a:pt x="0" y="0"/>
                  </a:moveTo>
                  <a:lnTo>
                    <a:pt x="337202" y="0"/>
                  </a:lnTo>
                  <a:lnTo>
                    <a:pt x="337202" y="319905"/>
                  </a:lnTo>
                  <a:lnTo>
                    <a:pt x="0" y="319905"/>
                  </a:lnTo>
                  <a:close/>
                </a:path>
              </a:pathLst>
            </a:custGeom>
            <a:solidFill>
              <a:srgbClr val="798FA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337202" cy="319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29060" y="2298400"/>
            <a:ext cx="9342631" cy="1219052"/>
            <a:chOff x="0" y="0"/>
            <a:chExt cx="2460611" cy="3210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60610" cy="321067"/>
            </a:xfrm>
            <a:custGeom>
              <a:avLst/>
              <a:gdLst/>
              <a:ahLst/>
              <a:cxnLst/>
              <a:rect r="r" b="b" t="t" l="l"/>
              <a:pathLst>
                <a:path h="321067" w="2460610">
                  <a:moveTo>
                    <a:pt x="0" y="0"/>
                  </a:moveTo>
                  <a:lnTo>
                    <a:pt x="2460610" y="0"/>
                  </a:lnTo>
                  <a:lnTo>
                    <a:pt x="2460610" y="321067"/>
                  </a:lnTo>
                  <a:lnTo>
                    <a:pt x="0" y="321067"/>
                  </a:lnTo>
                  <a:close/>
                </a:path>
              </a:pathLst>
            </a:custGeom>
            <a:solidFill>
              <a:srgbClr val="D5E1E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460611" cy="32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229060" y="3857294"/>
            <a:ext cx="9342631" cy="1219052"/>
            <a:chOff x="0" y="0"/>
            <a:chExt cx="2460611" cy="3210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60610" cy="321067"/>
            </a:xfrm>
            <a:custGeom>
              <a:avLst/>
              <a:gdLst/>
              <a:ahLst/>
              <a:cxnLst/>
              <a:rect r="r" b="b" t="t" l="l"/>
              <a:pathLst>
                <a:path h="321067" w="2460610">
                  <a:moveTo>
                    <a:pt x="0" y="0"/>
                  </a:moveTo>
                  <a:lnTo>
                    <a:pt x="2460610" y="0"/>
                  </a:lnTo>
                  <a:lnTo>
                    <a:pt x="2460610" y="321067"/>
                  </a:lnTo>
                  <a:lnTo>
                    <a:pt x="0" y="321067"/>
                  </a:lnTo>
                  <a:close/>
                </a:path>
              </a:pathLst>
            </a:custGeom>
            <a:solidFill>
              <a:srgbClr val="D5E1E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460611" cy="32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229060" y="5415510"/>
            <a:ext cx="9342631" cy="1219052"/>
            <a:chOff x="0" y="0"/>
            <a:chExt cx="2460611" cy="32106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60610" cy="321067"/>
            </a:xfrm>
            <a:custGeom>
              <a:avLst/>
              <a:gdLst/>
              <a:ahLst/>
              <a:cxnLst/>
              <a:rect r="r" b="b" t="t" l="l"/>
              <a:pathLst>
                <a:path h="321067" w="2460610">
                  <a:moveTo>
                    <a:pt x="0" y="0"/>
                  </a:moveTo>
                  <a:lnTo>
                    <a:pt x="2460610" y="0"/>
                  </a:lnTo>
                  <a:lnTo>
                    <a:pt x="2460610" y="321067"/>
                  </a:lnTo>
                  <a:lnTo>
                    <a:pt x="0" y="321067"/>
                  </a:lnTo>
                  <a:close/>
                </a:path>
              </a:pathLst>
            </a:custGeom>
            <a:solidFill>
              <a:srgbClr val="D5E1E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460611" cy="32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229060" y="6973726"/>
            <a:ext cx="9342631" cy="1219052"/>
            <a:chOff x="0" y="0"/>
            <a:chExt cx="2460611" cy="32106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60610" cy="321067"/>
            </a:xfrm>
            <a:custGeom>
              <a:avLst/>
              <a:gdLst/>
              <a:ahLst/>
              <a:cxnLst/>
              <a:rect r="r" b="b" t="t" l="l"/>
              <a:pathLst>
                <a:path h="321067" w="2460610">
                  <a:moveTo>
                    <a:pt x="0" y="0"/>
                  </a:moveTo>
                  <a:lnTo>
                    <a:pt x="2460610" y="0"/>
                  </a:lnTo>
                  <a:lnTo>
                    <a:pt x="2460610" y="321067"/>
                  </a:lnTo>
                  <a:lnTo>
                    <a:pt x="0" y="321067"/>
                  </a:lnTo>
                  <a:close/>
                </a:path>
              </a:pathLst>
            </a:custGeom>
            <a:solidFill>
              <a:srgbClr val="D5E1EE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2460611" cy="32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229060" y="8531942"/>
            <a:ext cx="9342631" cy="1219052"/>
            <a:chOff x="0" y="0"/>
            <a:chExt cx="2460611" cy="32106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60610" cy="321067"/>
            </a:xfrm>
            <a:custGeom>
              <a:avLst/>
              <a:gdLst/>
              <a:ahLst/>
              <a:cxnLst/>
              <a:rect r="r" b="b" t="t" l="l"/>
              <a:pathLst>
                <a:path h="321067" w="2460610">
                  <a:moveTo>
                    <a:pt x="0" y="0"/>
                  </a:moveTo>
                  <a:lnTo>
                    <a:pt x="2460610" y="0"/>
                  </a:lnTo>
                  <a:lnTo>
                    <a:pt x="2460610" y="321067"/>
                  </a:lnTo>
                  <a:lnTo>
                    <a:pt x="0" y="321067"/>
                  </a:lnTo>
                  <a:close/>
                </a:path>
              </a:pathLst>
            </a:custGeom>
            <a:solidFill>
              <a:srgbClr val="D5E1EE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460611" cy="32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1917158" y="2298400"/>
            <a:ext cx="5733790" cy="7450386"/>
          </a:xfrm>
          <a:custGeom>
            <a:avLst/>
            <a:gdLst/>
            <a:ahLst/>
            <a:cxnLst/>
            <a:rect r="r" b="b" t="t" l="l"/>
            <a:pathLst>
              <a:path h="7450386" w="5733790">
                <a:moveTo>
                  <a:pt x="0" y="0"/>
                </a:moveTo>
                <a:lnTo>
                  <a:pt x="5733790" y="0"/>
                </a:lnTo>
                <a:lnTo>
                  <a:pt x="5733790" y="7450386"/>
                </a:lnTo>
                <a:lnTo>
                  <a:pt x="0" y="7450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536" t="-20627" r="-11824" b="-8009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754664" y="2588838"/>
            <a:ext cx="102478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039"/>
              </a:lnSpc>
            </a:pPr>
            <a:r>
              <a:rPr lang="en-US" sz="4199">
                <a:solidFill>
                  <a:srgbClr val="D5E0E4"/>
                </a:solidFill>
                <a:latin typeface="Gagalin"/>
                <a:ea typeface="Gagalin"/>
                <a:cs typeface="Gagalin"/>
                <a:sym typeface="Gagalin"/>
              </a:rPr>
              <a:t>01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414252" y="2588838"/>
            <a:ext cx="934263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1A29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VISIBILITÉ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2949"/>
                </a:solidFill>
                <a:latin typeface="Open Sans 1"/>
                <a:ea typeface="Open Sans 1"/>
                <a:cs typeface="Open Sans 1"/>
                <a:sym typeface="Open Sans 1"/>
              </a:rPr>
              <a:t>Logo sur tenues, stories et newsletter. Votre marque visible à chaque sortie.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54664" y="4147732"/>
            <a:ext cx="102478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039"/>
              </a:lnSpc>
            </a:pPr>
            <a:r>
              <a:rPr lang="en-US" sz="4199">
                <a:solidFill>
                  <a:srgbClr val="D5E0E4"/>
                </a:solidFill>
                <a:latin typeface="Gagalin"/>
                <a:ea typeface="Gagalin"/>
                <a:cs typeface="Gagalin"/>
                <a:sym typeface="Gagalin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414252" y="4147732"/>
            <a:ext cx="934263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1A29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COMMUNAUTÉ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2949"/>
                </a:solidFill>
                <a:latin typeface="Open Sans 1"/>
                <a:ea typeface="Open Sans 1"/>
                <a:cs typeface="Open Sans 1"/>
                <a:sym typeface="Open Sans 1"/>
              </a:rPr>
              <a:t>Accès direct à une audience engagée, CSP+, prescriptrice.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54886" y="5705948"/>
            <a:ext cx="102478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039"/>
              </a:lnSpc>
            </a:pPr>
            <a:r>
              <a:rPr lang="en-US" sz="4199">
                <a:solidFill>
                  <a:srgbClr val="D5E0E4"/>
                </a:solidFill>
                <a:latin typeface="Gagalin"/>
                <a:ea typeface="Gagalin"/>
                <a:cs typeface="Gagalin"/>
                <a:sym typeface="Gagalin"/>
              </a:rPr>
              <a:t>03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414252" y="5705948"/>
            <a:ext cx="934263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1A29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CONTENU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2949"/>
                </a:solidFill>
                <a:latin typeface="Open Sans 1"/>
                <a:ea typeface="Open Sans 1"/>
                <a:cs typeface="Open Sans 1"/>
                <a:sym typeface="Open Sans 1"/>
              </a:rPr>
              <a:t>Photos et vidéos co-produites, UGC authentique en conditions réelles.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4664" y="7264164"/>
            <a:ext cx="102478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039"/>
              </a:lnSpc>
            </a:pPr>
            <a:r>
              <a:rPr lang="en-US" sz="4199">
                <a:solidFill>
                  <a:srgbClr val="D5E0E4"/>
                </a:solidFill>
                <a:latin typeface="Gagalin"/>
                <a:ea typeface="Gagalin"/>
                <a:cs typeface="Gagalin"/>
                <a:sym typeface="Gagalin"/>
              </a:rPr>
              <a:t>04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414252" y="7264164"/>
            <a:ext cx="934263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1A29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TERRAIN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2949"/>
                </a:solidFill>
                <a:latin typeface="Open Sans 1"/>
                <a:ea typeface="Open Sans 1"/>
                <a:cs typeface="Open Sans 1"/>
                <a:sym typeface="Open Sans 1"/>
              </a:rPr>
              <a:t>Activation et tests produits lors de nos sorties hebdomadaires.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54664" y="8822380"/>
            <a:ext cx="102478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039"/>
              </a:lnSpc>
            </a:pPr>
            <a:r>
              <a:rPr lang="en-US" sz="4199">
                <a:solidFill>
                  <a:srgbClr val="D5E0E4"/>
                </a:solidFill>
                <a:latin typeface="Gagalin"/>
                <a:ea typeface="Gagalin"/>
                <a:cs typeface="Gagalin"/>
                <a:sym typeface="Gagalin"/>
              </a:rPr>
              <a:t>05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414252" y="8822380"/>
            <a:ext cx="934263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1A29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ÉVÉNEMENTS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2949"/>
                </a:solidFill>
                <a:latin typeface="Open Sans 1"/>
                <a:ea typeface="Open Sans 1"/>
                <a:cs typeface="Open Sans 1"/>
                <a:sym typeface="Open Sans 1"/>
              </a:rPr>
              <a:t>Présence et naming sur nos temps forts et courses partenaires.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358249"/>
            <a:ext cx="5357517" cy="6975125"/>
            <a:chOff x="0" y="0"/>
            <a:chExt cx="1411033" cy="18370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11033" cy="1837070"/>
            </a:xfrm>
            <a:custGeom>
              <a:avLst/>
              <a:gdLst/>
              <a:ahLst/>
              <a:cxnLst/>
              <a:rect r="r" b="b" t="t" l="l"/>
              <a:pathLst>
                <a:path h="1837070" w="1411033">
                  <a:moveTo>
                    <a:pt x="73698" y="0"/>
                  </a:moveTo>
                  <a:lnTo>
                    <a:pt x="1337335" y="0"/>
                  </a:lnTo>
                  <a:cubicBezTo>
                    <a:pt x="1378038" y="0"/>
                    <a:pt x="1411033" y="32996"/>
                    <a:pt x="1411033" y="73698"/>
                  </a:cubicBezTo>
                  <a:lnTo>
                    <a:pt x="1411033" y="1763372"/>
                  </a:lnTo>
                  <a:cubicBezTo>
                    <a:pt x="1411033" y="1804074"/>
                    <a:pt x="1378038" y="1837070"/>
                    <a:pt x="1337335" y="1837070"/>
                  </a:cubicBezTo>
                  <a:lnTo>
                    <a:pt x="73698" y="1837070"/>
                  </a:lnTo>
                  <a:cubicBezTo>
                    <a:pt x="32996" y="1837070"/>
                    <a:pt x="0" y="1804074"/>
                    <a:pt x="0" y="1763372"/>
                  </a:cubicBezTo>
                  <a:lnTo>
                    <a:pt x="0" y="73698"/>
                  </a:lnTo>
                  <a:cubicBezTo>
                    <a:pt x="0" y="32996"/>
                    <a:pt x="32996" y="0"/>
                    <a:pt x="73698" y="0"/>
                  </a:cubicBezTo>
                  <a:close/>
                </a:path>
              </a:pathLst>
            </a:custGeom>
            <a:solidFill>
              <a:srgbClr val="F4F6F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11033" cy="1837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36666" y="2358249"/>
            <a:ext cx="5357517" cy="6975125"/>
            <a:chOff x="0" y="0"/>
            <a:chExt cx="1411033" cy="18370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11033" cy="1837070"/>
            </a:xfrm>
            <a:custGeom>
              <a:avLst/>
              <a:gdLst/>
              <a:ahLst/>
              <a:cxnLst/>
              <a:rect r="r" b="b" t="t" l="l"/>
              <a:pathLst>
                <a:path h="1837070" w="1411033">
                  <a:moveTo>
                    <a:pt x="73698" y="0"/>
                  </a:moveTo>
                  <a:lnTo>
                    <a:pt x="1337335" y="0"/>
                  </a:lnTo>
                  <a:cubicBezTo>
                    <a:pt x="1378038" y="0"/>
                    <a:pt x="1411033" y="32996"/>
                    <a:pt x="1411033" y="73698"/>
                  </a:cubicBezTo>
                  <a:lnTo>
                    <a:pt x="1411033" y="1763372"/>
                  </a:lnTo>
                  <a:cubicBezTo>
                    <a:pt x="1411033" y="1804074"/>
                    <a:pt x="1378038" y="1837070"/>
                    <a:pt x="1337335" y="1837070"/>
                  </a:cubicBezTo>
                  <a:lnTo>
                    <a:pt x="73698" y="1837070"/>
                  </a:lnTo>
                  <a:cubicBezTo>
                    <a:pt x="32996" y="1837070"/>
                    <a:pt x="0" y="1804074"/>
                    <a:pt x="0" y="1763372"/>
                  </a:cubicBezTo>
                  <a:lnTo>
                    <a:pt x="0" y="73698"/>
                  </a:lnTo>
                  <a:cubicBezTo>
                    <a:pt x="0" y="32996"/>
                    <a:pt x="32996" y="0"/>
                    <a:pt x="73698" y="0"/>
                  </a:cubicBezTo>
                  <a:close/>
                </a:path>
              </a:pathLst>
            </a:custGeom>
            <a:solidFill>
              <a:srgbClr val="EAF0F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411033" cy="1837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958933" y="2358249"/>
            <a:ext cx="5357517" cy="6975125"/>
            <a:chOff x="0" y="0"/>
            <a:chExt cx="1411033" cy="18370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1033" cy="1837070"/>
            </a:xfrm>
            <a:custGeom>
              <a:avLst/>
              <a:gdLst/>
              <a:ahLst/>
              <a:cxnLst/>
              <a:rect r="r" b="b" t="t" l="l"/>
              <a:pathLst>
                <a:path h="1837070" w="1411033">
                  <a:moveTo>
                    <a:pt x="73698" y="0"/>
                  </a:moveTo>
                  <a:lnTo>
                    <a:pt x="1337335" y="0"/>
                  </a:lnTo>
                  <a:cubicBezTo>
                    <a:pt x="1378038" y="0"/>
                    <a:pt x="1411033" y="32996"/>
                    <a:pt x="1411033" y="73698"/>
                  </a:cubicBezTo>
                  <a:lnTo>
                    <a:pt x="1411033" y="1763372"/>
                  </a:lnTo>
                  <a:cubicBezTo>
                    <a:pt x="1411033" y="1804074"/>
                    <a:pt x="1378038" y="1837070"/>
                    <a:pt x="1337335" y="1837070"/>
                  </a:cubicBezTo>
                  <a:lnTo>
                    <a:pt x="73698" y="1837070"/>
                  </a:lnTo>
                  <a:cubicBezTo>
                    <a:pt x="32996" y="1837070"/>
                    <a:pt x="0" y="1804074"/>
                    <a:pt x="0" y="1763372"/>
                  </a:cubicBezTo>
                  <a:lnTo>
                    <a:pt x="0" y="73698"/>
                  </a:lnTo>
                  <a:cubicBezTo>
                    <a:pt x="0" y="32996"/>
                    <a:pt x="32996" y="0"/>
                    <a:pt x="73698" y="0"/>
                  </a:cubicBezTo>
                  <a:close/>
                </a:path>
              </a:pathLst>
            </a:custGeom>
            <a:solidFill>
              <a:srgbClr val="D5E0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411033" cy="1837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7586" y="3708875"/>
            <a:ext cx="4091145" cy="62636"/>
            <a:chOff x="0" y="0"/>
            <a:chExt cx="5454859" cy="835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5534" y="16764"/>
              <a:ext cx="5423780" cy="49911"/>
            </a:xfrm>
            <a:custGeom>
              <a:avLst/>
              <a:gdLst/>
              <a:ahLst/>
              <a:cxnLst/>
              <a:rect r="r" b="b" t="t" l="l"/>
              <a:pathLst>
                <a:path h="49911" w="5423780">
                  <a:moveTo>
                    <a:pt x="0" y="0"/>
                  </a:moveTo>
                  <a:lnTo>
                    <a:pt x="5423780" y="0"/>
                  </a:lnTo>
                  <a:lnTo>
                    <a:pt x="5423780" y="49911"/>
                  </a:lnTo>
                  <a:lnTo>
                    <a:pt x="0" y="49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EA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54848" cy="83441"/>
            </a:xfrm>
            <a:custGeom>
              <a:avLst/>
              <a:gdLst/>
              <a:ahLst/>
              <a:cxnLst/>
              <a:rect r="r" b="b" t="t" l="l"/>
              <a:pathLst>
                <a:path h="83441" w="5454848">
                  <a:moveTo>
                    <a:pt x="15534" y="0"/>
                  </a:moveTo>
                  <a:lnTo>
                    <a:pt x="5439314" y="0"/>
                  </a:lnTo>
                  <a:cubicBezTo>
                    <a:pt x="5447905" y="0"/>
                    <a:pt x="5454848" y="7493"/>
                    <a:pt x="5454848" y="16764"/>
                  </a:cubicBezTo>
                  <a:lnTo>
                    <a:pt x="5454848" y="66675"/>
                  </a:lnTo>
                  <a:cubicBezTo>
                    <a:pt x="5454848" y="75946"/>
                    <a:pt x="5447905" y="83439"/>
                    <a:pt x="5439314" y="83439"/>
                  </a:cubicBezTo>
                  <a:lnTo>
                    <a:pt x="15534" y="83439"/>
                  </a:lnTo>
                  <a:cubicBezTo>
                    <a:pt x="6943" y="83566"/>
                    <a:pt x="0" y="75946"/>
                    <a:pt x="0" y="66675"/>
                  </a:cubicBezTo>
                  <a:lnTo>
                    <a:pt x="0" y="16764"/>
                  </a:lnTo>
                  <a:cubicBezTo>
                    <a:pt x="0" y="7493"/>
                    <a:pt x="6943" y="0"/>
                    <a:pt x="15534" y="0"/>
                  </a:cubicBezTo>
                  <a:moveTo>
                    <a:pt x="15534" y="33655"/>
                  </a:moveTo>
                  <a:lnTo>
                    <a:pt x="15534" y="16764"/>
                  </a:lnTo>
                  <a:lnTo>
                    <a:pt x="31186" y="16764"/>
                  </a:lnTo>
                  <a:lnTo>
                    <a:pt x="31186" y="66675"/>
                  </a:lnTo>
                  <a:lnTo>
                    <a:pt x="15534" y="66675"/>
                  </a:lnTo>
                  <a:lnTo>
                    <a:pt x="15534" y="49911"/>
                  </a:lnTo>
                  <a:lnTo>
                    <a:pt x="5439314" y="49911"/>
                  </a:lnTo>
                  <a:lnTo>
                    <a:pt x="5439314" y="66675"/>
                  </a:lnTo>
                  <a:lnTo>
                    <a:pt x="5423779" y="66675"/>
                  </a:lnTo>
                  <a:lnTo>
                    <a:pt x="5423779" y="16764"/>
                  </a:lnTo>
                  <a:lnTo>
                    <a:pt x="5439314" y="16764"/>
                  </a:lnTo>
                  <a:lnTo>
                    <a:pt x="5439314" y="33655"/>
                  </a:lnTo>
                  <a:lnTo>
                    <a:pt x="15534" y="33655"/>
                  </a:lnTo>
                  <a:close/>
                </a:path>
              </a:pathLst>
            </a:custGeom>
            <a:solidFill>
              <a:srgbClr val="496EA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057246" y="3708875"/>
            <a:ext cx="4091145" cy="62636"/>
            <a:chOff x="0" y="0"/>
            <a:chExt cx="5454859" cy="835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5534" y="16764"/>
              <a:ext cx="5423780" cy="49911"/>
            </a:xfrm>
            <a:custGeom>
              <a:avLst/>
              <a:gdLst/>
              <a:ahLst/>
              <a:cxnLst/>
              <a:rect r="r" b="b" t="t" l="l"/>
              <a:pathLst>
                <a:path h="49911" w="5423780">
                  <a:moveTo>
                    <a:pt x="0" y="0"/>
                  </a:moveTo>
                  <a:lnTo>
                    <a:pt x="5423780" y="0"/>
                  </a:lnTo>
                  <a:lnTo>
                    <a:pt x="5423780" y="49911"/>
                  </a:lnTo>
                  <a:lnTo>
                    <a:pt x="0" y="49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EA5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54848" cy="83441"/>
            </a:xfrm>
            <a:custGeom>
              <a:avLst/>
              <a:gdLst/>
              <a:ahLst/>
              <a:cxnLst/>
              <a:rect r="r" b="b" t="t" l="l"/>
              <a:pathLst>
                <a:path h="83441" w="5454848">
                  <a:moveTo>
                    <a:pt x="15534" y="0"/>
                  </a:moveTo>
                  <a:lnTo>
                    <a:pt x="5439314" y="0"/>
                  </a:lnTo>
                  <a:cubicBezTo>
                    <a:pt x="5447905" y="0"/>
                    <a:pt x="5454848" y="7493"/>
                    <a:pt x="5454848" y="16764"/>
                  </a:cubicBezTo>
                  <a:lnTo>
                    <a:pt x="5454848" y="66675"/>
                  </a:lnTo>
                  <a:cubicBezTo>
                    <a:pt x="5454848" y="75946"/>
                    <a:pt x="5447905" y="83439"/>
                    <a:pt x="5439314" y="83439"/>
                  </a:cubicBezTo>
                  <a:lnTo>
                    <a:pt x="15534" y="83439"/>
                  </a:lnTo>
                  <a:cubicBezTo>
                    <a:pt x="6943" y="83566"/>
                    <a:pt x="0" y="75946"/>
                    <a:pt x="0" y="66675"/>
                  </a:cubicBezTo>
                  <a:lnTo>
                    <a:pt x="0" y="16764"/>
                  </a:lnTo>
                  <a:cubicBezTo>
                    <a:pt x="0" y="7493"/>
                    <a:pt x="6943" y="0"/>
                    <a:pt x="15534" y="0"/>
                  </a:cubicBezTo>
                  <a:moveTo>
                    <a:pt x="15534" y="33655"/>
                  </a:moveTo>
                  <a:lnTo>
                    <a:pt x="15534" y="16764"/>
                  </a:lnTo>
                  <a:lnTo>
                    <a:pt x="31186" y="16764"/>
                  </a:lnTo>
                  <a:lnTo>
                    <a:pt x="31186" y="66675"/>
                  </a:lnTo>
                  <a:lnTo>
                    <a:pt x="15534" y="66675"/>
                  </a:lnTo>
                  <a:lnTo>
                    <a:pt x="15534" y="49911"/>
                  </a:lnTo>
                  <a:lnTo>
                    <a:pt x="5439314" y="49911"/>
                  </a:lnTo>
                  <a:lnTo>
                    <a:pt x="5439314" y="66675"/>
                  </a:lnTo>
                  <a:lnTo>
                    <a:pt x="5423779" y="66675"/>
                  </a:lnTo>
                  <a:lnTo>
                    <a:pt x="5423779" y="16764"/>
                  </a:lnTo>
                  <a:lnTo>
                    <a:pt x="5439314" y="16764"/>
                  </a:lnTo>
                  <a:lnTo>
                    <a:pt x="5439314" y="33655"/>
                  </a:lnTo>
                  <a:lnTo>
                    <a:pt x="15534" y="33655"/>
                  </a:lnTo>
                  <a:close/>
                </a:path>
              </a:pathLst>
            </a:custGeom>
            <a:solidFill>
              <a:srgbClr val="496EA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592119" y="3708875"/>
            <a:ext cx="4091145" cy="62636"/>
            <a:chOff x="0" y="0"/>
            <a:chExt cx="5454859" cy="835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5534" y="16764"/>
              <a:ext cx="5423780" cy="49911"/>
            </a:xfrm>
            <a:custGeom>
              <a:avLst/>
              <a:gdLst/>
              <a:ahLst/>
              <a:cxnLst/>
              <a:rect r="r" b="b" t="t" l="l"/>
              <a:pathLst>
                <a:path h="49911" w="5423780">
                  <a:moveTo>
                    <a:pt x="0" y="0"/>
                  </a:moveTo>
                  <a:lnTo>
                    <a:pt x="5423780" y="0"/>
                  </a:lnTo>
                  <a:lnTo>
                    <a:pt x="5423780" y="49911"/>
                  </a:lnTo>
                  <a:lnTo>
                    <a:pt x="0" y="49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2B44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54848" cy="83441"/>
            </a:xfrm>
            <a:custGeom>
              <a:avLst/>
              <a:gdLst/>
              <a:ahLst/>
              <a:cxnLst/>
              <a:rect r="r" b="b" t="t" l="l"/>
              <a:pathLst>
                <a:path h="83441" w="5454848">
                  <a:moveTo>
                    <a:pt x="15534" y="0"/>
                  </a:moveTo>
                  <a:lnTo>
                    <a:pt x="5439314" y="0"/>
                  </a:lnTo>
                  <a:cubicBezTo>
                    <a:pt x="5447905" y="0"/>
                    <a:pt x="5454848" y="7493"/>
                    <a:pt x="5454848" y="16764"/>
                  </a:cubicBezTo>
                  <a:lnTo>
                    <a:pt x="5454848" y="66675"/>
                  </a:lnTo>
                  <a:cubicBezTo>
                    <a:pt x="5454848" y="75946"/>
                    <a:pt x="5447905" y="83439"/>
                    <a:pt x="5439314" y="83439"/>
                  </a:cubicBezTo>
                  <a:lnTo>
                    <a:pt x="15534" y="83439"/>
                  </a:lnTo>
                  <a:cubicBezTo>
                    <a:pt x="6943" y="83566"/>
                    <a:pt x="0" y="75946"/>
                    <a:pt x="0" y="66675"/>
                  </a:cubicBezTo>
                  <a:lnTo>
                    <a:pt x="0" y="16764"/>
                  </a:lnTo>
                  <a:cubicBezTo>
                    <a:pt x="0" y="7493"/>
                    <a:pt x="6943" y="0"/>
                    <a:pt x="15534" y="0"/>
                  </a:cubicBezTo>
                  <a:moveTo>
                    <a:pt x="15534" y="33655"/>
                  </a:moveTo>
                  <a:lnTo>
                    <a:pt x="15534" y="16764"/>
                  </a:lnTo>
                  <a:lnTo>
                    <a:pt x="31186" y="16764"/>
                  </a:lnTo>
                  <a:lnTo>
                    <a:pt x="31186" y="66675"/>
                  </a:lnTo>
                  <a:lnTo>
                    <a:pt x="15534" y="66675"/>
                  </a:lnTo>
                  <a:lnTo>
                    <a:pt x="15534" y="49911"/>
                  </a:lnTo>
                  <a:lnTo>
                    <a:pt x="5439314" y="49911"/>
                  </a:lnTo>
                  <a:lnTo>
                    <a:pt x="5439314" y="66675"/>
                  </a:lnTo>
                  <a:lnTo>
                    <a:pt x="5423779" y="66675"/>
                  </a:lnTo>
                  <a:lnTo>
                    <a:pt x="5423779" y="16764"/>
                  </a:lnTo>
                  <a:lnTo>
                    <a:pt x="5439314" y="16764"/>
                  </a:lnTo>
                  <a:lnTo>
                    <a:pt x="5439314" y="33655"/>
                  </a:lnTo>
                  <a:lnTo>
                    <a:pt x="15534" y="33655"/>
                  </a:lnTo>
                  <a:close/>
                </a:path>
              </a:pathLst>
            </a:custGeom>
            <a:solidFill>
              <a:srgbClr val="496EA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0" y="9862823"/>
            <a:ext cx="18288000" cy="327918"/>
            <a:chOff x="0" y="0"/>
            <a:chExt cx="24384000" cy="4372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84000" cy="437222"/>
            </a:xfrm>
            <a:custGeom>
              <a:avLst/>
              <a:gdLst/>
              <a:ahLst/>
              <a:cxnLst/>
              <a:rect r="r" b="b" t="t" l="l"/>
              <a:pathLst>
                <a:path h="43722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37222"/>
                  </a:lnTo>
                  <a:lnTo>
                    <a:pt x="0" y="4372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7956" r="0" b="-102541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4384000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Le ciel est bleu running club</a:t>
              </a: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· Paris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484808"/>
            <a:ext cx="16459200" cy="859185"/>
            <a:chOff x="0" y="0"/>
            <a:chExt cx="21945600" cy="114558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1945600" cy="923330"/>
              <a:chOff x="0" y="0"/>
              <a:chExt cx="21945600" cy="92333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1945600" cy="923325"/>
              </a:xfrm>
              <a:custGeom>
                <a:avLst/>
                <a:gdLst/>
                <a:ahLst/>
                <a:cxnLst/>
                <a:rect r="r" b="b" t="t" l="l"/>
                <a:pathLst>
                  <a:path h="923325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923325"/>
                    </a:lnTo>
                    <a:lnTo>
                      <a:pt x="0" y="923325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428225" r="0" b="-398016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21945600" cy="9709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FFFFFF"/>
                    </a:solidFill>
                    <a:latin typeface="Horizon"/>
                    <a:ea typeface="Horizon"/>
                    <a:cs typeface="Horizon"/>
                    <a:sym typeface="Horizon"/>
                  </a:rPr>
                  <a:t>Format de partenariat</a:t>
                </a: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701080"/>
              <a:ext cx="21869400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FFFFFF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Points de départ, chaque partenariat est ajustable.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34602" y="2600174"/>
            <a:ext cx="491711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959"/>
              </a:lnSpc>
            </a:pPr>
            <a:r>
              <a:rPr lang="en-US" sz="3299">
                <a:solidFill>
                  <a:srgbClr val="1A2949"/>
                </a:solidFill>
                <a:latin typeface="Gagalin"/>
                <a:ea typeface="Gagalin"/>
                <a:cs typeface="Gagalin"/>
                <a:sym typeface="Gagalin"/>
              </a:rPr>
              <a:t>PONCTUEL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4602" y="3226734"/>
            <a:ext cx="491711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00"/>
              </a:lnSpc>
            </a:pPr>
            <a:r>
              <a:rPr lang="en-US" sz="2000" i="true">
                <a:solidFill>
                  <a:srgbClr val="496EA5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Tester la collaboration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656869" y="2600174"/>
            <a:ext cx="491711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959"/>
              </a:lnSpc>
            </a:pPr>
            <a:r>
              <a:rPr lang="en-US" sz="3299">
                <a:solidFill>
                  <a:srgbClr val="1A2949"/>
                </a:solidFill>
                <a:latin typeface="Gagalin"/>
                <a:ea typeface="Gagalin"/>
                <a:cs typeface="Gagalin"/>
                <a:sym typeface="Gagalin"/>
              </a:rPr>
              <a:t>SAISON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56869" y="3226734"/>
            <a:ext cx="491711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00"/>
              </a:lnSpc>
            </a:pPr>
            <a:r>
              <a:rPr lang="en-US" sz="2000" i="true">
                <a:solidFill>
                  <a:srgbClr val="496EA5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S'ancrer dans la communauté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79135" y="2600174"/>
            <a:ext cx="491711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959"/>
              </a:lnSpc>
            </a:pPr>
            <a:r>
              <a:rPr lang="en-US" sz="3299">
                <a:solidFill>
                  <a:srgbClr val="122B44"/>
                </a:solidFill>
                <a:latin typeface="Gagalin"/>
                <a:ea typeface="Gagalin"/>
                <a:cs typeface="Gagalin"/>
                <a:sym typeface="Gagalin"/>
              </a:rPr>
              <a:t>PARTENAIRE OFFICIEL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79135" y="3226734"/>
            <a:ext cx="491711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00"/>
              </a:lnSpc>
            </a:pPr>
            <a:r>
              <a:rPr lang="en-US" sz="2000" i="true">
                <a:solidFill>
                  <a:srgbClr val="496EA5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Visibilité maximale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48646" y="4357299"/>
            <a:ext cx="4489025" cy="349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✓ 1 évén</a:t>
            </a:r>
            <a:r>
              <a:rPr lang="en-US" sz="22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ement co-brandé ou activation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✓ 2–3 stories dédiées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✓ 1 post Instagram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✓ Photos livrées après l'événement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70912" y="4357299"/>
            <a:ext cx="4489025" cy="388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✓ 3–4 évén</a:t>
            </a:r>
            <a:r>
              <a:rPr lang="en-US" sz="22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ements sur 6 mois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✓ Stories régulières à chaque sortie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✓ Testing produit + retours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✓ Photos &amp; vidéos mensuelles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✓ Mention logo sur le compte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93179" y="4357299"/>
            <a:ext cx="4489025" cy="427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22B44"/>
                </a:solidFill>
                <a:latin typeface="Open Sans 2"/>
                <a:ea typeface="Open Sans 2"/>
                <a:cs typeface="Open Sans 2"/>
                <a:sym typeface="Open Sans 2"/>
              </a:rPr>
              <a:t>✓ Partenaire référ</a:t>
            </a:r>
            <a:r>
              <a:rPr lang="en-US" sz="2200">
                <a:solidFill>
                  <a:srgbClr val="122B44"/>
                </a:solidFill>
                <a:latin typeface="Open Sans 2"/>
                <a:ea typeface="Open Sans 2"/>
                <a:cs typeface="Open Sans 2"/>
                <a:sym typeface="Open Sans 2"/>
              </a:rPr>
              <a:t>ent du club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22B44"/>
                </a:solidFill>
                <a:latin typeface="Open Sans 2"/>
                <a:ea typeface="Open Sans 2"/>
                <a:cs typeface="Open Sans 2"/>
                <a:sym typeface="Open Sans 2"/>
              </a:rPr>
              <a:t>✓ Présence sur toute la saison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22B44"/>
                </a:solidFill>
                <a:latin typeface="Open Sans 2"/>
                <a:ea typeface="Open Sans 2"/>
                <a:cs typeface="Open Sans 2"/>
                <a:sym typeface="Open Sans 2"/>
              </a:rPr>
              <a:t>✓ Co-branding sur les visuels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22B44"/>
                </a:solidFill>
                <a:latin typeface="Open Sans 2"/>
                <a:ea typeface="Open Sans 2"/>
                <a:cs typeface="Open Sans 2"/>
                <a:sym typeface="Open Sans 2"/>
              </a:rPr>
              <a:t>✓ Dossards et équipement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22B44"/>
                </a:solidFill>
                <a:latin typeface="Open Sans 2"/>
                <a:ea typeface="Open Sans 2"/>
                <a:cs typeface="Open Sans 2"/>
                <a:sym typeface="Open Sans 2"/>
              </a:rPr>
              <a:t>✓ Dédié sur bio Instagram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22B44"/>
                </a:solidFill>
                <a:latin typeface="Open Sans 2"/>
                <a:ea typeface="Open Sans 2"/>
                <a:cs typeface="Open Sans 2"/>
                <a:sym typeface="Open Sans 2"/>
              </a:rPr>
              <a:t>✓ Reporting mensuel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68151"/>
            <a:ext cx="16459200" cy="692497"/>
            <a:chOff x="0" y="0"/>
            <a:chExt cx="21945600" cy="923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923325"/>
            </a:xfrm>
            <a:custGeom>
              <a:avLst/>
              <a:gdLst/>
              <a:ahLst/>
              <a:cxnLst/>
              <a:rect r="r" b="b" t="t" l="l"/>
              <a:pathLst>
                <a:path h="92332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3325"/>
                  </a:lnTo>
                  <a:lnTo>
                    <a:pt x="0" y="923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225" r="0" b="-398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945600" cy="970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Credentials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862823"/>
            <a:ext cx="18288000" cy="327918"/>
            <a:chOff x="0" y="0"/>
            <a:chExt cx="24384000" cy="4372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437222"/>
            </a:xfrm>
            <a:custGeom>
              <a:avLst/>
              <a:gdLst/>
              <a:ahLst/>
              <a:cxnLst/>
              <a:rect r="r" b="b" t="t" l="l"/>
              <a:pathLst>
                <a:path h="43722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37222"/>
                  </a:lnTo>
                  <a:lnTo>
                    <a:pt x="0" y="437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956" r="0" b="-102541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4384000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Le ciel est bleu running club</a:t>
              </a: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· Paris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890166" y="8470863"/>
            <a:ext cx="2467985" cy="818432"/>
          </a:xfrm>
          <a:custGeom>
            <a:avLst/>
            <a:gdLst/>
            <a:ahLst/>
            <a:cxnLst/>
            <a:rect r="r" b="b" t="t" l="l"/>
            <a:pathLst>
              <a:path h="818432" w="2467985">
                <a:moveTo>
                  <a:pt x="0" y="0"/>
                </a:moveTo>
                <a:lnTo>
                  <a:pt x="2467984" y="0"/>
                </a:lnTo>
                <a:lnTo>
                  <a:pt x="2467984" y="818432"/>
                </a:lnTo>
                <a:lnTo>
                  <a:pt x="0" y="818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32827" y="8278402"/>
            <a:ext cx="1740836" cy="1203353"/>
          </a:xfrm>
          <a:custGeom>
            <a:avLst/>
            <a:gdLst/>
            <a:ahLst/>
            <a:cxnLst/>
            <a:rect r="r" b="b" t="t" l="l"/>
            <a:pathLst>
              <a:path h="1203353" w="1740836">
                <a:moveTo>
                  <a:pt x="0" y="0"/>
                </a:moveTo>
                <a:lnTo>
                  <a:pt x="1740837" y="0"/>
                </a:lnTo>
                <a:lnTo>
                  <a:pt x="1740837" y="1203354"/>
                </a:lnTo>
                <a:lnTo>
                  <a:pt x="0" y="12033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22923" y="8396610"/>
            <a:ext cx="1738316" cy="966939"/>
          </a:xfrm>
          <a:custGeom>
            <a:avLst/>
            <a:gdLst/>
            <a:ahLst/>
            <a:cxnLst/>
            <a:rect r="r" b="b" t="t" l="l"/>
            <a:pathLst>
              <a:path h="966939" w="1738316">
                <a:moveTo>
                  <a:pt x="0" y="0"/>
                </a:moveTo>
                <a:lnTo>
                  <a:pt x="1738317" y="0"/>
                </a:lnTo>
                <a:lnTo>
                  <a:pt x="1738317" y="966938"/>
                </a:lnTo>
                <a:lnTo>
                  <a:pt x="0" y="966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689621" y="8502181"/>
            <a:ext cx="2165551" cy="755796"/>
          </a:xfrm>
          <a:custGeom>
            <a:avLst/>
            <a:gdLst/>
            <a:ahLst/>
            <a:cxnLst/>
            <a:rect r="r" b="b" t="t" l="l"/>
            <a:pathLst>
              <a:path h="755796" w="2165551">
                <a:moveTo>
                  <a:pt x="0" y="0"/>
                </a:moveTo>
                <a:lnTo>
                  <a:pt x="2165552" y="0"/>
                </a:lnTo>
                <a:lnTo>
                  <a:pt x="2165552" y="755796"/>
                </a:lnTo>
                <a:lnTo>
                  <a:pt x="0" y="7557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90302" r="0" b="-96223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6525269" y="8278402"/>
            <a:ext cx="0" cy="1203353"/>
          </a:xfrm>
          <a:prstGeom prst="line">
            <a:avLst/>
          </a:prstGeom>
          <a:ln cap="flat" w="19050">
            <a:solidFill>
              <a:srgbClr val="122B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8858895" y="8278402"/>
            <a:ext cx="0" cy="1203353"/>
          </a:xfrm>
          <a:prstGeom prst="line">
            <a:avLst/>
          </a:prstGeom>
          <a:ln cap="flat" w="19050">
            <a:solidFill>
              <a:srgbClr val="122B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1389421" y="8278402"/>
            <a:ext cx="0" cy="1203353"/>
          </a:xfrm>
          <a:prstGeom prst="line">
            <a:avLst/>
          </a:prstGeom>
          <a:ln cap="flat" w="19050">
            <a:solidFill>
              <a:srgbClr val="122B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914400" y="2394794"/>
            <a:ext cx="3896945" cy="5271067"/>
            <a:chOff x="0" y="0"/>
            <a:chExt cx="1026356" cy="1388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6356" cy="1388264"/>
            </a:xfrm>
            <a:custGeom>
              <a:avLst/>
              <a:gdLst/>
              <a:ahLst/>
              <a:cxnLst/>
              <a:rect r="r" b="b" t="t" l="l"/>
              <a:pathLst>
                <a:path h="1388264" w="1026356">
                  <a:moveTo>
                    <a:pt x="101320" y="0"/>
                  </a:moveTo>
                  <a:lnTo>
                    <a:pt x="925036" y="0"/>
                  </a:lnTo>
                  <a:cubicBezTo>
                    <a:pt x="951908" y="0"/>
                    <a:pt x="977679" y="10675"/>
                    <a:pt x="996680" y="29676"/>
                  </a:cubicBezTo>
                  <a:cubicBezTo>
                    <a:pt x="1015681" y="48677"/>
                    <a:pt x="1026356" y="74448"/>
                    <a:pt x="1026356" y="101320"/>
                  </a:cubicBezTo>
                  <a:lnTo>
                    <a:pt x="1026356" y="1286945"/>
                  </a:lnTo>
                  <a:cubicBezTo>
                    <a:pt x="1026356" y="1313816"/>
                    <a:pt x="1015681" y="1339587"/>
                    <a:pt x="996680" y="1358589"/>
                  </a:cubicBezTo>
                  <a:cubicBezTo>
                    <a:pt x="977679" y="1377590"/>
                    <a:pt x="951908" y="1388264"/>
                    <a:pt x="925036" y="1388264"/>
                  </a:cubicBezTo>
                  <a:lnTo>
                    <a:pt x="101320" y="1388264"/>
                  </a:lnTo>
                  <a:cubicBezTo>
                    <a:pt x="74448" y="1388264"/>
                    <a:pt x="48677" y="1377590"/>
                    <a:pt x="29676" y="1358589"/>
                  </a:cubicBezTo>
                  <a:cubicBezTo>
                    <a:pt x="10675" y="1339587"/>
                    <a:pt x="0" y="1313816"/>
                    <a:pt x="0" y="1286945"/>
                  </a:cubicBezTo>
                  <a:lnTo>
                    <a:pt x="0" y="101320"/>
                  </a:lnTo>
                  <a:cubicBezTo>
                    <a:pt x="0" y="74448"/>
                    <a:pt x="10675" y="48677"/>
                    <a:pt x="29676" y="29676"/>
                  </a:cubicBezTo>
                  <a:cubicBezTo>
                    <a:pt x="48677" y="10675"/>
                    <a:pt x="74448" y="0"/>
                    <a:pt x="101320" y="0"/>
                  </a:cubicBezTo>
                  <a:close/>
                </a:path>
              </a:pathLst>
            </a:custGeom>
            <a:solidFill>
              <a:srgbClr val="798FA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026356" cy="1397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67120" y="2674819"/>
            <a:ext cx="3191505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565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Fan Zone · Marathon de Paris, Semi de Paris, Semi de Nice, 10k Hoka...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2839"/>
              </a:lnSpc>
            </a:pPr>
            <a:r>
              <a:rPr lang="en-US" sz="236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Organisation de fan zones “KM Bleu” avec visibilité pendant les courses et sur les réseaux sociaux.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098917" y="2394794"/>
            <a:ext cx="3896945" cy="5271067"/>
            <a:chOff x="0" y="0"/>
            <a:chExt cx="1026356" cy="13882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6356" cy="1388264"/>
            </a:xfrm>
            <a:custGeom>
              <a:avLst/>
              <a:gdLst/>
              <a:ahLst/>
              <a:cxnLst/>
              <a:rect r="r" b="b" t="t" l="l"/>
              <a:pathLst>
                <a:path h="1388264" w="1026356">
                  <a:moveTo>
                    <a:pt x="101320" y="0"/>
                  </a:moveTo>
                  <a:lnTo>
                    <a:pt x="925036" y="0"/>
                  </a:lnTo>
                  <a:cubicBezTo>
                    <a:pt x="951908" y="0"/>
                    <a:pt x="977679" y="10675"/>
                    <a:pt x="996680" y="29676"/>
                  </a:cubicBezTo>
                  <a:cubicBezTo>
                    <a:pt x="1015681" y="48677"/>
                    <a:pt x="1026356" y="74448"/>
                    <a:pt x="1026356" y="101320"/>
                  </a:cubicBezTo>
                  <a:lnTo>
                    <a:pt x="1026356" y="1286945"/>
                  </a:lnTo>
                  <a:cubicBezTo>
                    <a:pt x="1026356" y="1313816"/>
                    <a:pt x="1015681" y="1339587"/>
                    <a:pt x="996680" y="1358589"/>
                  </a:cubicBezTo>
                  <a:cubicBezTo>
                    <a:pt x="977679" y="1377590"/>
                    <a:pt x="951908" y="1388264"/>
                    <a:pt x="925036" y="1388264"/>
                  </a:cubicBezTo>
                  <a:lnTo>
                    <a:pt x="101320" y="1388264"/>
                  </a:lnTo>
                  <a:cubicBezTo>
                    <a:pt x="74448" y="1388264"/>
                    <a:pt x="48677" y="1377590"/>
                    <a:pt x="29676" y="1358589"/>
                  </a:cubicBezTo>
                  <a:cubicBezTo>
                    <a:pt x="10675" y="1339587"/>
                    <a:pt x="0" y="1313816"/>
                    <a:pt x="0" y="1286945"/>
                  </a:cubicBezTo>
                  <a:lnTo>
                    <a:pt x="0" y="101320"/>
                  </a:lnTo>
                  <a:cubicBezTo>
                    <a:pt x="0" y="74448"/>
                    <a:pt x="10675" y="48677"/>
                    <a:pt x="29676" y="29676"/>
                  </a:cubicBezTo>
                  <a:cubicBezTo>
                    <a:pt x="48677" y="10675"/>
                    <a:pt x="74448" y="0"/>
                    <a:pt x="101320" y="0"/>
                  </a:cubicBezTo>
                  <a:close/>
                </a:path>
              </a:pathLst>
            </a:custGeom>
            <a:solidFill>
              <a:srgbClr val="B6CDE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026356" cy="1397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451637" y="2674819"/>
            <a:ext cx="3191505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565">
                <a:solidFill>
                  <a:srgbClr val="122B4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Ékiden · Relais en équipe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2839"/>
              </a:lnSpc>
            </a:pPr>
            <a:r>
              <a:rPr lang="en-US" sz="2365">
                <a:solidFill>
                  <a:srgbClr val="122B44"/>
                </a:solidFill>
                <a:latin typeface="Open Sans 1"/>
                <a:ea typeface="Open Sans 1"/>
                <a:cs typeface="Open Sans 1"/>
                <a:sym typeface="Open Sans 1"/>
              </a:rPr>
              <a:t>Course de relais marathon en équipes. Format unique, esprit de collectif au maximum.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87786" y="2394794"/>
            <a:ext cx="3896945" cy="5271067"/>
            <a:chOff x="0" y="0"/>
            <a:chExt cx="1026356" cy="13882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6356" cy="1388264"/>
            </a:xfrm>
            <a:custGeom>
              <a:avLst/>
              <a:gdLst/>
              <a:ahLst/>
              <a:cxnLst/>
              <a:rect r="r" b="b" t="t" l="l"/>
              <a:pathLst>
                <a:path h="1388264" w="1026356">
                  <a:moveTo>
                    <a:pt x="101320" y="0"/>
                  </a:moveTo>
                  <a:lnTo>
                    <a:pt x="925036" y="0"/>
                  </a:lnTo>
                  <a:cubicBezTo>
                    <a:pt x="951908" y="0"/>
                    <a:pt x="977679" y="10675"/>
                    <a:pt x="996680" y="29676"/>
                  </a:cubicBezTo>
                  <a:cubicBezTo>
                    <a:pt x="1015681" y="48677"/>
                    <a:pt x="1026356" y="74448"/>
                    <a:pt x="1026356" y="101320"/>
                  </a:cubicBezTo>
                  <a:lnTo>
                    <a:pt x="1026356" y="1286945"/>
                  </a:lnTo>
                  <a:cubicBezTo>
                    <a:pt x="1026356" y="1313816"/>
                    <a:pt x="1015681" y="1339587"/>
                    <a:pt x="996680" y="1358589"/>
                  </a:cubicBezTo>
                  <a:cubicBezTo>
                    <a:pt x="977679" y="1377590"/>
                    <a:pt x="951908" y="1388264"/>
                    <a:pt x="925036" y="1388264"/>
                  </a:cubicBezTo>
                  <a:lnTo>
                    <a:pt x="101320" y="1388264"/>
                  </a:lnTo>
                  <a:cubicBezTo>
                    <a:pt x="74448" y="1388264"/>
                    <a:pt x="48677" y="1377590"/>
                    <a:pt x="29676" y="1358589"/>
                  </a:cubicBezTo>
                  <a:cubicBezTo>
                    <a:pt x="10675" y="1339587"/>
                    <a:pt x="0" y="1313816"/>
                    <a:pt x="0" y="1286945"/>
                  </a:cubicBezTo>
                  <a:lnTo>
                    <a:pt x="0" y="101320"/>
                  </a:lnTo>
                  <a:cubicBezTo>
                    <a:pt x="0" y="74448"/>
                    <a:pt x="10675" y="48677"/>
                    <a:pt x="29676" y="29676"/>
                  </a:cubicBezTo>
                  <a:cubicBezTo>
                    <a:pt x="48677" y="10675"/>
                    <a:pt x="74448" y="0"/>
                    <a:pt x="101320" y="0"/>
                  </a:cubicBezTo>
                  <a:close/>
                </a:path>
              </a:pathLst>
            </a:custGeom>
            <a:solidFill>
              <a:srgbClr val="798FA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026356" cy="1397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640506" y="2674819"/>
            <a:ext cx="3191505" cy="469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565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Adidas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2839"/>
              </a:lnSpc>
            </a:pPr>
            <a:r>
              <a:rPr lang="en-US" sz="236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Événement pour le lancement de la Hyper Boost à la Adidas Arena.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2839"/>
              </a:lnSpc>
            </a:pPr>
            <a:r>
              <a:rPr lang="en-US" sz="236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Participation au 10K Adidas (2 encadrants présents au photoshoot officiels, dossards offerts pour la course)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476655" y="2394794"/>
            <a:ext cx="3896945" cy="5271067"/>
            <a:chOff x="0" y="0"/>
            <a:chExt cx="1026356" cy="13882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6356" cy="1388264"/>
            </a:xfrm>
            <a:custGeom>
              <a:avLst/>
              <a:gdLst/>
              <a:ahLst/>
              <a:cxnLst/>
              <a:rect r="r" b="b" t="t" l="l"/>
              <a:pathLst>
                <a:path h="1388264" w="1026356">
                  <a:moveTo>
                    <a:pt x="101320" y="0"/>
                  </a:moveTo>
                  <a:lnTo>
                    <a:pt x="925036" y="0"/>
                  </a:lnTo>
                  <a:cubicBezTo>
                    <a:pt x="951908" y="0"/>
                    <a:pt x="977679" y="10675"/>
                    <a:pt x="996680" y="29676"/>
                  </a:cubicBezTo>
                  <a:cubicBezTo>
                    <a:pt x="1015681" y="48677"/>
                    <a:pt x="1026356" y="74448"/>
                    <a:pt x="1026356" y="101320"/>
                  </a:cubicBezTo>
                  <a:lnTo>
                    <a:pt x="1026356" y="1286945"/>
                  </a:lnTo>
                  <a:cubicBezTo>
                    <a:pt x="1026356" y="1313816"/>
                    <a:pt x="1015681" y="1339587"/>
                    <a:pt x="996680" y="1358589"/>
                  </a:cubicBezTo>
                  <a:cubicBezTo>
                    <a:pt x="977679" y="1377590"/>
                    <a:pt x="951908" y="1388264"/>
                    <a:pt x="925036" y="1388264"/>
                  </a:cubicBezTo>
                  <a:lnTo>
                    <a:pt x="101320" y="1388264"/>
                  </a:lnTo>
                  <a:cubicBezTo>
                    <a:pt x="74448" y="1388264"/>
                    <a:pt x="48677" y="1377590"/>
                    <a:pt x="29676" y="1358589"/>
                  </a:cubicBezTo>
                  <a:cubicBezTo>
                    <a:pt x="10675" y="1339587"/>
                    <a:pt x="0" y="1313816"/>
                    <a:pt x="0" y="1286945"/>
                  </a:cubicBezTo>
                  <a:lnTo>
                    <a:pt x="0" y="101320"/>
                  </a:lnTo>
                  <a:cubicBezTo>
                    <a:pt x="0" y="74448"/>
                    <a:pt x="10675" y="48677"/>
                    <a:pt x="29676" y="29676"/>
                  </a:cubicBezTo>
                  <a:cubicBezTo>
                    <a:pt x="48677" y="10675"/>
                    <a:pt x="74448" y="0"/>
                    <a:pt x="101320" y="0"/>
                  </a:cubicBezTo>
                  <a:close/>
                </a:path>
              </a:pathLst>
            </a:custGeom>
            <a:solidFill>
              <a:srgbClr val="B6CDE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026356" cy="1397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822906" y="2674819"/>
            <a:ext cx="3191505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565">
                <a:solidFill>
                  <a:srgbClr val="122B4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Testing de produits running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2839"/>
              </a:lnSpc>
            </a:pPr>
            <a:r>
              <a:rPr lang="en-US" sz="2365">
                <a:solidFill>
                  <a:srgbClr val="122B44"/>
                </a:solidFill>
                <a:latin typeface="Open Sans 1"/>
                <a:ea typeface="Open Sans 1"/>
                <a:cs typeface="Open Sans 1"/>
                <a:sym typeface="Open Sans 1"/>
              </a:rPr>
              <a:t>Collaborations avec plusieurs marques (Adidas, ACT, 60%...). Retours authentiques de la communauté.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02853"/>
            <a:ext cx="16459200" cy="692497"/>
            <a:chOff x="0" y="0"/>
            <a:chExt cx="21945600" cy="923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23325"/>
            </a:xfrm>
            <a:custGeom>
              <a:avLst/>
              <a:gdLst/>
              <a:ahLst/>
              <a:cxnLst/>
              <a:rect r="r" b="b" t="t" l="l"/>
              <a:pathLst>
                <a:path h="92332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3325"/>
                  </a:lnTo>
                  <a:lnTo>
                    <a:pt x="0" y="923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225" r="0" b="-39801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945600" cy="970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Credentials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862823"/>
            <a:ext cx="18288000" cy="327918"/>
            <a:chOff x="0" y="0"/>
            <a:chExt cx="24384000" cy="4372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437222"/>
            </a:xfrm>
            <a:custGeom>
              <a:avLst/>
              <a:gdLst/>
              <a:ahLst/>
              <a:cxnLst/>
              <a:rect r="r" b="b" t="t" l="l"/>
              <a:pathLst>
                <a:path h="43722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37222"/>
                  </a:lnTo>
                  <a:lnTo>
                    <a:pt x="0" y="437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956" r="0" b="-102541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4384000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Le ciel est bleu running club</a:t>
              </a: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· Paris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998044" y="433314"/>
            <a:ext cx="4097857" cy="5123572"/>
          </a:xfrm>
          <a:custGeom>
            <a:avLst/>
            <a:gdLst/>
            <a:ahLst/>
            <a:cxnLst/>
            <a:rect r="r" b="b" t="t" l="l"/>
            <a:pathLst>
              <a:path h="5123572" w="4097857">
                <a:moveTo>
                  <a:pt x="0" y="0"/>
                </a:moveTo>
                <a:lnTo>
                  <a:pt x="4097857" y="0"/>
                </a:lnTo>
                <a:lnTo>
                  <a:pt x="4097857" y="5123572"/>
                </a:lnTo>
                <a:lnTo>
                  <a:pt x="0" y="5123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12839" y="5723560"/>
            <a:ext cx="6210411" cy="4139263"/>
          </a:xfrm>
          <a:custGeom>
            <a:avLst/>
            <a:gdLst/>
            <a:ahLst/>
            <a:cxnLst/>
            <a:rect r="r" b="b" t="t" l="l"/>
            <a:pathLst>
              <a:path h="4139263" w="6210411">
                <a:moveTo>
                  <a:pt x="0" y="0"/>
                </a:moveTo>
                <a:lnTo>
                  <a:pt x="6210412" y="0"/>
                </a:lnTo>
                <a:lnTo>
                  <a:pt x="6210412" y="4139263"/>
                </a:lnTo>
                <a:lnTo>
                  <a:pt x="0" y="41392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" y="549101"/>
            <a:ext cx="6422686" cy="4281790"/>
          </a:xfrm>
          <a:custGeom>
            <a:avLst/>
            <a:gdLst/>
            <a:ahLst/>
            <a:cxnLst/>
            <a:rect r="r" b="b" t="t" l="l"/>
            <a:pathLst>
              <a:path h="4281790" w="6422686">
                <a:moveTo>
                  <a:pt x="0" y="0"/>
                </a:moveTo>
                <a:lnTo>
                  <a:pt x="6422686" y="0"/>
                </a:lnTo>
                <a:lnTo>
                  <a:pt x="6422686" y="4281791"/>
                </a:lnTo>
                <a:lnTo>
                  <a:pt x="0" y="42817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5064992"/>
            <a:ext cx="3250531" cy="4797832"/>
          </a:xfrm>
          <a:custGeom>
            <a:avLst/>
            <a:gdLst/>
            <a:ahLst/>
            <a:cxnLst/>
            <a:rect r="r" b="b" t="t" l="l"/>
            <a:pathLst>
              <a:path h="4797832" w="3250531">
                <a:moveTo>
                  <a:pt x="0" y="0"/>
                </a:moveTo>
                <a:lnTo>
                  <a:pt x="3250531" y="0"/>
                </a:lnTo>
                <a:lnTo>
                  <a:pt x="3250531" y="4797831"/>
                </a:lnTo>
                <a:lnTo>
                  <a:pt x="0" y="47978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57710" y="433314"/>
            <a:ext cx="4515890" cy="4515890"/>
          </a:xfrm>
          <a:custGeom>
            <a:avLst/>
            <a:gdLst/>
            <a:ahLst/>
            <a:cxnLst/>
            <a:rect r="r" b="b" t="t" l="l"/>
            <a:pathLst>
              <a:path h="4515890" w="4515890">
                <a:moveTo>
                  <a:pt x="0" y="0"/>
                </a:moveTo>
                <a:lnTo>
                  <a:pt x="4515890" y="0"/>
                </a:lnTo>
                <a:lnTo>
                  <a:pt x="4515890" y="4515890"/>
                </a:lnTo>
                <a:lnTo>
                  <a:pt x="0" y="45158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57935" r="0" b="-5945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642559" y="5518307"/>
            <a:ext cx="4616741" cy="4344517"/>
          </a:xfrm>
          <a:custGeom>
            <a:avLst/>
            <a:gdLst/>
            <a:ahLst/>
            <a:cxnLst/>
            <a:rect r="r" b="b" t="t" l="l"/>
            <a:pathLst>
              <a:path h="4344517" w="4616741">
                <a:moveTo>
                  <a:pt x="0" y="0"/>
                </a:moveTo>
                <a:lnTo>
                  <a:pt x="4616741" y="0"/>
                </a:lnTo>
                <a:lnTo>
                  <a:pt x="4616741" y="4344516"/>
                </a:lnTo>
                <a:lnTo>
                  <a:pt x="0" y="43445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7694" r="0" b="-8627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68151"/>
            <a:ext cx="16459200" cy="692497"/>
            <a:chOff x="0" y="0"/>
            <a:chExt cx="21945600" cy="923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923325"/>
            </a:xfrm>
            <a:custGeom>
              <a:avLst/>
              <a:gdLst/>
              <a:ahLst/>
              <a:cxnLst/>
              <a:rect r="r" b="b" t="t" l="l"/>
              <a:pathLst>
                <a:path h="92332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3325"/>
                  </a:lnTo>
                  <a:lnTo>
                    <a:pt x="0" y="923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225" r="0" b="-398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945600" cy="970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NOTRE COMMUNAUTÉ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258654"/>
            <a:ext cx="16459200" cy="407516"/>
            <a:chOff x="0" y="0"/>
            <a:chExt cx="21945600" cy="5433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43354"/>
            </a:xfrm>
            <a:custGeom>
              <a:avLst/>
              <a:gdLst/>
              <a:ahLst/>
              <a:cxnLst/>
              <a:rect r="r" b="b" t="t" l="l"/>
              <a:pathLst>
                <a:path h="5433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3354"/>
                  </a:lnTo>
                  <a:lnTo>
                    <a:pt x="0" y="5433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9218" r="0" b="-72474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552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6D879A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PROFIL TYPE DE NOS ADHÉRENTS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926080"/>
            <a:ext cx="5303520" cy="2926080"/>
            <a:chOff x="0" y="0"/>
            <a:chExt cx="7071360" cy="3901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713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5E0E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3422837"/>
            <a:ext cx="4937760" cy="873882"/>
            <a:chOff x="0" y="0"/>
            <a:chExt cx="6583680" cy="11651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685" cy="1165179"/>
            </a:xfrm>
            <a:custGeom>
              <a:avLst/>
              <a:gdLst/>
              <a:ahLst/>
              <a:cxnLst/>
              <a:rect r="r" b="b" t="t" l="l"/>
              <a:pathLst>
                <a:path h="1165179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1165179"/>
                  </a:lnTo>
                  <a:lnTo>
                    <a:pt x="0" y="11651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47" r="0" b="-4114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583680" cy="1165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b="true" sz="42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27 ANS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4480646"/>
            <a:ext cx="4937760" cy="407516"/>
            <a:chOff x="0" y="0"/>
            <a:chExt cx="6583680" cy="5433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83685" cy="543346"/>
            </a:xfrm>
            <a:custGeom>
              <a:avLst/>
              <a:gdLst/>
              <a:ahLst/>
              <a:cxnLst/>
              <a:rect r="r" b="b" t="t" l="l"/>
              <a:pathLst>
                <a:path h="543346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543346"/>
                  </a:lnTo>
                  <a:lnTo>
                    <a:pt x="0" y="5433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461" r="0" b="-16973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6583680" cy="552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Âge moyen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5121650"/>
            <a:ext cx="4937760" cy="367717"/>
            <a:chOff x="0" y="0"/>
            <a:chExt cx="6583680" cy="4902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83685" cy="490287"/>
            </a:xfrm>
            <a:custGeom>
              <a:avLst/>
              <a:gdLst/>
              <a:ahLst/>
              <a:cxnLst/>
              <a:rect r="r" b="b" t="t" l="l"/>
              <a:pathLst>
                <a:path h="490287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490287"/>
                  </a:lnTo>
                  <a:lnTo>
                    <a:pt x="0" y="490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11" r="0" b="-19618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6583680" cy="480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20–34 ans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83680" y="2926080"/>
            <a:ext cx="5303520" cy="2926080"/>
            <a:chOff x="0" y="0"/>
            <a:chExt cx="7071360" cy="3901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713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5E0E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66560" y="3422837"/>
            <a:ext cx="4937760" cy="873882"/>
            <a:chOff x="0" y="0"/>
            <a:chExt cx="6583680" cy="11651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5" cy="1165179"/>
            </a:xfrm>
            <a:custGeom>
              <a:avLst/>
              <a:gdLst/>
              <a:ahLst/>
              <a:cxnLst/>
              <a:rect r="r" b="b" t="t" l="l"/>
              <a:pathLst>
                <a:path h="1165179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1165179"/>
                  </a:lnTo>
                  <a:lnTo>
                    <a:pt x="0" y="11651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47" r="0" b="-4114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583680" cy="1165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b="true" sz="42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50 / 50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766560" y="4480646"/>
            <a:ext cx="4937760" cy="407516"/>
            <a:chOff x="0" y="0"/>
            <a:chExt cx="6583680" cy="5433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3685" cy="543346"/>
            </a:xfrm>
            <a:custGeom>
              <a:avLst/>
              <a:gdLst/>
              <a:ahLst/>
              <a:cxnLst/>
              <a:rect r="r" b="b" t="t" l="l"/>
              <a:pathLst>
                <a:path h="543346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543346"/>
                  </a:lnTo>
                  <a:lnTo>
                    <a:pt x="0" y="5433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461" r="0" b="-16973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6583680" cy="552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Hommes / Femmes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66560" y="5121650"/>
            <a:ext cx="4937760" cy="367717"/>
            <a:chOff x="0" y="0"/>
            <a:chExt cx="6583680" cy="4902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5" cy="490287"/>
            </a:xfrm>
            <a:custGeom>
              <a:avLst/>
              <a:gdLst/>
              <a:ahLst/>
              <a:cxnLst/>
              <a:rect r="r" b="b" t="t" l="l"/>
              <a:pathLst>
                <a:path h="490287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490287"/>
                  </a:lnTo>
                  <a:lnTo>
                    <a:pt x="0" y="490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11" r="0" b="-1961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6583680" cy="480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Parité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52960" y="2926080"/>
            <a:ext cx="5303520" cy="2926080"/>
            <a:chOff x="0" y="0"/>
            <a:chExt cx="7071360" cy="3901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713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5E0E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435840" y="3485026"/>
            <a:ext cx="4937760" cy="665361"/>
            <a:chOff x="0" y="0"/>
            <a:chExt cx="6583680" cy="8871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3" cy="887145"/>
            </a:xfrm>
            <a:custGeom>
              <a:avLst/>
              <a:gdLst/>
              <a:ahLst/>
              <a:cxnLst/>
              <a:rect r="r" b="b" t="t" l="l"/>
              <a:pathLst>
                <a:path h="887145" w="6583683">
                  <a:moveTo>
                    <a:pt x="0" y="0"/>
                  </a:moveTo>
                  <a:lnTo>
                    <a:pt x="6583683" y="0"/>
                  </a:lnTo>
                  <a:lnTo>
                    <a:pt x="6583683" y="887145"/>
                  </a:lnTo>
                  <a:lnTo>
                    <a:pt x="0" y="8871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67" r="0" b="-7603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583680" cy="887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Jeunes actifs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435840" y="4480646"/>
            <a:ext cx="4937760" cy="407516"/>
            <a:chOff x="0" y="0"/>
            <a:chExt cx="6583680" cy="5433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3" cy="543346"/>
            </a:xfrm>
            <a:custGeom>
              <a:avLst/>
              <a:gdLst/>
              <a:ahLst/>
              <a:cxnLst/>
              <a:rect r="r" b="b" t="t" l="l"/>
              <a:pathLst>
                <a:path h="543346" w="6583683">
                  <a:moveTo>
                    <a:pt x="0" y="0"/>
                  </a:moveTo>
                  <a:lnTo>
                    <a:pt x="6583683" y="0"/>
                  </a:lnTo>
                  <a:lnTo>
                    <a:pt x="6583683" y="543346"/>
                  </a:lnTo>
                  <a:lnTo>
                    <a:pt x="0" y="5433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461" r="0" b="-16973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6583680" cy="552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Profil socio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435840" y="5121650"/>
            <a:ext cx="4937760" cy="367717"/>
            <a:chOff x="0" y="0"/>
            <a:chExt cx="6583680" cy="49028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3683" cy="490287"/>
            </a:xfrm>
            <a:custGeom>
              <a:avLst/>
              <a:gdLst/>
              <a:ahLst/>
              <a:cxnLst/>
              <a:rect r="r" b="b" t="t" l="l"/>
              <a:pathLst>
                <a:path h="490287" w="6583683">
                  <a:moveTo>
                    <a:pt x="0" y="0"/>
                  </a:moveTo>
                  <a:lnTo>
                    <a:pt x="6583683" y="0"/>
                  </a:lnTo>
                  <a:lnTo>
                    <a:pt x="6583683" y="490287"/>
                  </a:lnTo>
                  <a:lnTo>
                    <a:pt x="0" y="490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11" r="0" b="-19618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9525"/>
              <a:ext cx="6583680" cy="480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Urbai</a:t>
              </a:r>
              <a:r>
                <a:rPr lang="en-US" sz="18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ns, CSP+, Actifs dynamiques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4400" y="6391742"/>
            <a:ext cx="16459200" cy="407516"/>
            <a:chOff x="0" y="0"/>
            <a:chExt cx="21945600" cy="54335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45600" cy="543346"/>
            </a:xfrm>
            <a:custGeom>
              <a:avLst/>
              <a:gdLst/>
              <a:ahLst/>
              <a:cxnLst/>
              <a:rect r="r" b="b" t="t" l="l"/>
              <a:pathLst>
                <a:path h="54334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3346"/>
                  </a:lnTo>
                  <a:lnTo>
                    <a:pt x="0" y="5433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3358" r="0" b="-72063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21945600" cy="552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6D879A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PRÉSENCE DIGITALE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4400" y="7059168"/>
            <a:ext cx="5303520" cy="2468880"/>
            <a:chOff x="0" y="0"/>
            <a:chExt cx="7071360" cy="3291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0713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97280" y="7334498"/>
            <a:ext cx="4937760" cy="367717"/>
            <a:chOff x="0" y="0"/>
            <a:chExt cx="6583680" cy="49028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3685" cy="490287"/>
            </a:xfrm>
            <a:custGeom>
              <a:avLst/>
              <a:gdLst/>
              <a:ahLst/>
              <a:cxnLst/>
              <a:rect r="r" b="b" t="t" l="l"/>
              <a:pathLst>
                <a:path h="490287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490287"/>
                  </a:lnTo>
                  <a:lnTo>
                    <a:pt x="0" y="490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11" r="0" b="-19618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9525"/>
              <a:ext cx="6583680" cy="480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B6CDE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INSTAGRAM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97280" y="7973968"/>
            <a:ext cx="4937760" cy="705160"/>
            <a:chOff x="0" y="0"/>
            <a:chExt cx="6583680" cy="94021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583685" cy="940216"/>
            </a:xfrm>
            <a:custGeom>
              <a:avLst/>
              <a:gdLst/>
              <a:ahLst/>
              <a:cxnLst/>
              <a:rect r="r" b="b" t="t" l="l"/>
              <a:pathLst>
                <a:path h="940216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940216"/>
                  </a:lnTo>
                  <a:lnTo>
                    <a:pt x="0" y="940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376" r="0" b="-6750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6583680" cy="94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b="true" sz="340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3 200 abonnés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97280" y="8760962"/>
            <a:ext cx="4937760" cy="327918"/>
            <a:chOff x="0" y="0"/>
            <a:chExt cx="6583680" cy="43722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583685" cy="437222"/>
            </a:xfrm>
            <a:custGeom>
              <a:avLst/>
              <a:gdLst/>
              <a:ahLst/>
              <a:cxnLst/>
              <a:rect r="r" b="b" t="t" l="l"/>
              <a:pathLst>
                <a:path h="437222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437222"/>
                  </a:lnTo>
                  <a:lnTo>
                    <a:pt x="0" y="437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3213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6583680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6D879A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@lecielestbleu_runningclub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583680" y="7059168"/>
            <a:ext cx="5303520" cy="2468880"/>
            <a:chOff x="0" y="0"/>
            <a:chExt cx="7071360" cy="32918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0713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766560" y="7334498"/>
            <a:ext cx="4937760" cy="367717"/>
            <a:chOff x="0" y="0"/>
            <a:chExt cx="6583680" cy="49028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583685" cy="490287"/>
            </a:xfrm>
            <a:custGeom>
              <a:avLst/>
              <a:gdLst/>
              <a:ahLst/>
              <a:cxnLst/>
              <a:rect r="r" b="b" t="t" l="l"/>
              <a:pathLst>
                <a:path h="490287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490287"/>
                  </a:lnTo>
                  <a:lnTo>
                    <a:pt x="0" y="490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11" r="0" b="-19618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9525"/>
              <a:ext cx="6583680" cy="480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B6CDE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TIKTOK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766560" y="7973968"/>
            <a:ext cx="4937760" cy="705160"/>
            <a:chOff x="0" y="0"/>
            <a:chExt cx="6583680" cy="94021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83685" cy="940216"/>
            </a:xfrm>
            <a:custGeom>
              <a:avLst/>
              <a:gdLst/>
              <a:ahLst/>
              <a:cxnLst/>
              <a:rect r="r" b="b" t="t" l="l"/>
              <a:pathLst>
                <a:path h="940216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940216"/>
                  </a:lnTo>
                  <a:lnTo>
                    <a:pt x="0" y="940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376" r="0" b="-6750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6583680" cy="94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b="true" sz="340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1 100 abonnés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766560" y="8760962"/>
            <a:ext cx="4937760" cy="327918"/>
            <a:chOff x="0" y="0"/>
            <a:chExt cx="6583680" cy="43722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83685" cy="437222"/>
            </a:xfrm>
            <a:custGeom>
              <a:avLst/>
              <a:gdLst/>
              <a:ahLst/>
              <a:cxnLst/>
              <a:rect r="r" b="b" t="t" l="l"/>
              <a:pathLst>
                <a:path h="437222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437222"/>
                  </a:lnTo>
                  <a:lnTo>
                    <a:pt x="0" y="437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3213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6583680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6D879A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@lecielestbleu_running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252960" y="7059168"/>
            <a:ext cx="5303520" cy="2468880"/>
            <a:chOff x="0" y="0"/>
            <a:chExt cx="7071360" cy="32918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0713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435840" y="7334498"/>
            <a:ext cx="4937760" cy="367717"/>
            <a:chOff x="0" y="0"/>
            <a:chExt cx="6583680" cy="49028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583683" cy="490287"/>
            </a:xfrm>
            <a:custGeom>
              <a:avLst/>
              <a:gdLst/>
              <a:ahLst/>
              <a:cxnLst/>
              <a:rect r="r" b="b" t="t" l="l"/>
              <a:pathLst>
                <a:path h="490287" w="6583683">
                  <a:moveTo>
                    <a:pt x="0" y="0"/>
                  </a:moveTo>
                  <a:lnTo>
                    <a:pt x="6583683" y="0"/>
                  </a:lnTo>
                  <a:lnTo>
                    <a:pt x="6583683" y="490287"/>
                  </a:lnTo>
                  <a:lnTo>
                    <a:pt x="0" y="490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11" r="0" b="-19618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9525"/>
              <a:ext cx="6583680" cy="480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B6CDE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STRAVA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435840" y="7973968"/>
            <a:ext cx="4937760" cy="705160"/>
            <a:chOff x="0" y="0"/>
            <a:chExt cx="6583680" cy="94021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583683" cy="940216"/>
            </a:xfrm>
            <a:custGeom>
              <a:avLst/>
              <a:gdLst/>
              <a:ahLst/>
              <a:cxnLst/>
              <a:rect r="r" b="b" t="t" l="l"/>
              <a:pathLst>
                <a:path h="940216" w="6583683">
                  <a:moveTo>
                    <a:pt x="0" y="0"/>
                  </a:moveTo>
                  <a:lnTo>
                    <a:pt x="6583683" y="0"/>
                  </a:lnTo>
                  <a:lnTo>
                    <a:pt x="6583683" y="940216"/>
                  </a:lnTo>
                  <a:lnTo>
                    <a:pt x="0" y="940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376" r="0" b="-6750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6583680" cy="94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b="true" sz="340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2 200 abonnés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435840" y="8760962"/>
            <a:ext cx="4937760" cy="327918"/>
            <a:chOff x="0" y="0"/>
            <a:chExt cx="6583680" cy="43722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583683" cy="437222"/>
            </a:xfrm>
            <a:custGeom>
              <a:avLst/>
              <a:gdLst/>
              <a:ahLst/>
              <a:cxnLst/>
              <a:rect r="r" b="b" t="t" l="l"/>
              <a:pathLst>
                <a:path h="437222" w="6583683">
                  <a:moveTo>
                    <a:pt x="0" y="0"/>
                  </a:moveTo>
                  <a:lnTo>
                    <a:pt x="6583683" y="0"/>
                  </a:lnTo>
                  <a:lnTo>
                    <a:pt x="6583683" y="437222"/>
                  </a:lnTo>
                  <a:lnTo>
                    <a:pt x="0" y="437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3213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6583680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6D879A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Le ciel est bleu Running Club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0" y="9862823"/>
            <a:ext cx="18288000" cy="327918"/>
            <a:chOff x="0" y="0"/>
            <a:chExt cx="24384000" cy="43722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384000" cy="437222"/>
            </a:xfrm>
            <a:custGeom>
              <a:avLst/>
              <a:gdLst/>
              <a:ahLst/>
              <a:cxnLst/>
              <a:rect r="r" b="b" t="t" l="l"/>
              <a:pathLst>
                <a:path h="43722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37222"/>
                  </a:lnTo>
                  <a:lnTo>
                    <a:pt x="0" y="437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956" r="0" b="-102541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24384000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Le ciel est bleu running club</a:t>
              </a: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· Paris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68151"/>
            <a:ext cx="16459200" cy="692497"/>
            <a:chOff x="0" y="0"/>
            <a:chExt cx="21945600" cy="923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923325"/>
            </a:xfrm>
            <a:custGeom>
              <a:avLst/>
              <a:gdLst/>
              <a:ahLst/>
              <a:cxnLst/>
              <a:rect r="r" b="b" t="t" l="l"/>
              <a:pathLst>
                <a:path h="92332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3325"/>
                  </a:lnTo>
                  <a:lnTo>
                    <a:pt x="0" y="923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225" r="0" b="-398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945600" cy="970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RETOMBÉES STATISTIQUES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0099" y="2148916"/>
            <a:ext cx="16459200" cy="407516"/>
            <a:chOff x="0" y="0"/>
            <a:chExt cx="21945600" cy="5433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43354"/>
            </a:xfrm>
            <a:custGeom>
              <a:avLst/>
              <a:gdLst/>
              <a:ahLst/>
              <a:cxnLst/>
              <a:rect r="r" b="b" t="t" l="l"/>
              <a:pathLst>
                <a:path h="5433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3354"/>
                  </a:lnTo>
                  <a:lnTo>
                    <a:pt x="0" y="5433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9218" r="0" b="-72474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552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D879A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Activité Instagram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0080" y="2743200"/>
            <a:ext cx="5358649" cy="2834640"/>
            <a:chOff x="0" y="0"/>
            <a:chExt cx="7144865" cy="3779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44865" cy="3779520"/>
            </a:xfrm>
            <a:custGeom>
              <a:avLst/>
              <a:gdLst/>
              <a:ahLst/>
              <a:cxnLst/>
              <a:rect r="r" b="b" t="t" l="l"/>
              <a:pathLst>
                <a:path h="3779520" w="7144865">
                  <a:moveTo>
                    <a:pt x="0" y="0"/>
                  </a:moveTo>
                  <a:lnTo>
                    <a:pt x="7144865" y="0"/>
                  </a:lnTo>
                  <a:lnTo>
                    <a:pt x="7144865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40080" y="2743200"/>
            <a:ext cx="5358649" cy="91440"/>
            <a:chOff x="0" y="0"/>
            <a:chExt cx="7144865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44865" cy="121920"/>
            </a:xfrm>
            <a:custGeom>
              <a:avLst/>
              <a:gdLst/>
              <a:ahLst/>
              <a:cxnLst/>
              <a:rect r="r" b="b" t="t" l="l"/>
              <a:pathLst>
                <a:path h="121920" w="7144865">
                  <a:moveTo>
                    <a:pt x="0" y="0"/>
                  </a:moveTo>
                  <a:lnTo>
                    <a:pt x="7144865" y="0"/>
                  </a:lnTo>
                  <a:lnTo>
                    <a:pt x="7144865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6D879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83655" y="3162681"/>
            <a:ext cx="4871499" cy="1082402"/>
            <a:chOff x="0" y="0"/>
            <a:chExt cx="6495332" cy="14432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95332" cy="1443201"/>
            </a:xfrm>
            <a:custGeom>
              <a:avLst/>
              <a:gdLst/>
              <a:ahLst/>
              <a:cxnLst/>
              <a:rect r="r" b="b" t="t" l="l"/>
              <a:pathLst>
                <a:path h="1443201" w="6495332">
                  <a:moveTo>
                    <a:pt x="0" y="0"/>
                  </a:moveTo>
                  <a:lnTo>
                    <a:pt x="6495332" y="0"/>
                  </a:lnTo>
                  <a:lnTo>
                    <a:pt x="6495332" y="1443201"/>
                  </a:lnTo>
                  <a:lnTo>
                    <a:pt x="0" y="14432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58" r="24918" b="217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495332" cy="1443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b="true" sz="520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380 000+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4940" y="4537653"/>
            <a:ext cx="4968929" cy="645291"/>
            <a:chOff x="0" y="0"/>
            <a:chExt cx="6625239" cy="8603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25244" cy="860382"/>
            </a:xfrm>
            <a:custGeom>
              <a:avLst/>
              <a:gdLst/>
              <a:ahLst/>
              <a:cxnLst/>
              <a:rect r="r" b="b" t="t" l="l"/>
              <a:pathLst>
                <a:path h="860382" w="6625244">
                  <a:moveTo>
                    <a:pt x="0" y="0"/>
                  </a:moveTo>
                  <a:lnTo>
                    <a:pt x="6625244" y="0"/>
                  </a:lnTo>
                  <a:lnTo>
                    <a:pt x="6625244" y="860382"/>
                  </a:lnTo>
                  <a:lnTo>
                    <a:pt x="0" y="8603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903" r="24918" b="-5340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625239" cy="90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96"/>
                </a:lnSpc>
              </a:pPr>
              <a:r>
                <a:rPr lang="en-US" sz="1600">
                  <a:solidFill>
                    <a:srgbClr val="B6CDE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VUES</a:t>
              </a:r>
            </a:p>
            <a:p>
              <a:pPr algn="ctr">
                <a:lnSpc>
                  <a:spcPts val="2496"/>
                </a:lnSpc>
              </a:pPr>
              <a:r>
                <a:rPr lang="en-US" sz="1600">
                  <a:solidFill>
                    <a:srgbClr val="B6CDE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CES 90 DERNIERS JOURS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64091" y="2743200"/>
            <a:ext cx="5358649" cy="2834640"/>
            <a:chOff x="0" y="0"/>
            <a:chExt cx="7144865" cy="3779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44865" cy="3779520"/>
            </a:xfrm>
            <a:custGeom>
              <a:avLst/>
              <a:gdLst/>
              <a:ahLst/>
              <a:cxnLst/>
              <a:rect r="r" b="b" t="t" l="l"/>
              <a:pathLst>
                <a:path h="3779520" w="7144865">
                  <a:moveTo>
                    <a:pt x="0" y="0"/>
                  </a:moveTo>
                  <a:lnTo>
                    <a:pt x="7144865" y="0"/>
                  </a:lnTo>
                  <a:lnTo>
                    <a:pt x="7144865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364091" y="2743200"/>
            <a:ext cx="5358649" cy="91440"/>
            <a:chOff x="0" y="0"/>
            <a:chExt cx="7144865" cy="121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44865" cy="121920"/>
            </a:xfrm>
            <a:custGeom>
              <a:avLst/>
              <a:gdLst/>
              <a:ahLst/>
              <a:cxnLst/>
              <a:rect r="r" b="b" t="t" l="l"/>
              <a:pathLst>
                <a:path h="121920" w="7144865">
                  <a:moveTo>
                    <a:pt x="0" y="0"/>
                  </a:moveTo>
                  <a:lnTo>
                    <a:pt x="7144865" y="0"/>
                  </a:lnTo>
                  <a:lnTo>
                    <a:pt x="7144865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6D879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607666" y="3162681"/>
            <a:ext cx="4871499" cy="1082402"/>
            <a:chOff x="0" y="0"/>
            <a:chExt cx="6495332" cy="14432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95332" cy="1443201"/>
            </a:xfrm>
            <a:custGeom>
              <a:avLst/>
              <a:gdLst/>
              <a:ahLst/>
              <a:cxnLst/>
              <a:rect r="r" b="b" t="t" l="l"/>
              <a:pathLst>
                <a:path h="1443201" w="6495332">
                  <a:moveTo>
                    <a:pt x="0" y="0"/>
                  </a:moveTo>
                  <a:lnTo>
                    <a:pt x="6495332" y="0"/>
                  </a:lnTo>
                  <a:lnTo>
                    <a:pt x="6495332" y="1443201"/>
                  </a:lnTo>
                  <a:lnTo>
                    <a:pt x="0" y="14432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58" r="24918" b="217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495332" cy="1443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b="true" sz="520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3 900+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558951" y="4483416"/>
            <a:ext cx="4968929" cy="645291"/>
            <a:chOff x="0" y="0"/>
            <a:chExt cx="6625239" cy="8603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25241" cy="860382"/>
            </a:xfrm>
            <a:custGeom>
              <a:avLst/>
              <a:gdLst/>
              <a:ahLst/>
              <a:cxnLst/>
              <a:rect r="r" b="b" t="t" l="l"/>
              <a:pathLst>
                <a:path h="860382" w="6625241">
                  <a:moveTo>
                    <a:pt x="0" y="0"/>
                  </a:moveTo>
                  <a:lnTo>
                    <a:pt x="6625241" y="0"/>
                  </a:lnTo>
                  <a:lnTo>
                    <a:pt x="6625241" y="860382"/>
                  </a:lnTo>
                  <a:lnTo>
                    <a:pt x="0" y="8603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903" r="24918" b="-5340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625239" cy="90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96"/>
                </a:lnSpc>
              </a:pPr>
              <a:r>
                <a:rPr lang="en-US" sz="1600">
                  <a:solidFill>
                    <a:srgbClr val="B6CDE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COMPTES TOUCHÉS</a:t>
              </a:r>
            </a:p>
            <a:p>
              <a:pPr algn="ctr">
                <a:lnSpc>
                  <a:spcPts val="2496"/>
                </a:lnSpc>
              </a:pPr>
              <a:r>
                <a:rPr lang="en-US" sz="1600">
                  <a:solidFill>
                    <a:srgbClr val="B6CDE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EN UNE STORY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088103" y="2743200"/>
            <a:ext cx="5358649" cy="2834640"/>
            <a:chOff x="0" y="0"/>
            <a:chExt cx="7144865" cy="3779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44865" cy="3779520"/>
            </a:xfrm>
            <a:custGeom>
              <a:avLst/>
              <a:gdLst/>
              <a:ahLst/>
              <a:cxnLst/>
              <a:rect r="r" b="b" t="t" l="l"/>
              <a:pathLst>
                <a:path h="3779520" w="7144865">
                  <a:moveTo>
                    <a:pt x="0" y="0"/>
                  </a:moveTo>
                  <a:lnTo>
                    <a:pt x="7144865" y="0"/>
                  </a:lnTo>
                  <a:lnTo>
                    <a:pt x="7144865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22B4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088103" y="2743200"/>
            <a:ext cx="5358649" cy="91440"/>
            <a:chOff x="0" y="0"/>
            <a:chExt cx="7144865" cy="121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44865" cy="121920"/>
            </a:xfrm>
            <a:custGeom>
              <a:avLst/>
              <a:gdLst/>
              <a:ahLst/>
              <a:cxnLst/>
              <a:rect r="r" b="b" t="t" l="l"/>
              <a:pathLst>
                <a:path h="121920" w="7144865">
                  <a:moveTo>
                    <a:pt x="0" y="0"/>
                  </a:moveTo>
                  <a:lnTo>
                    <a:pt x="7144865" y="0"/>
                  </a:lnTo>
                  <a:lnTo>
                    <a:pt x="7144865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6D879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331678" y="3162681"/>
            <a:ext cx="4871499" cy="1082402"/>
            <a:chOff x="0" y="0"/>
            <a:chExt cx="6495332" cy="14432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95332" cy="1443201"/>
            </a:xfrm>
            <a:custGeom>
              <a:avLst/>
              <a:gdLst/>
              <a:ahLst/>
              <a:cxnLst/>
              <a:rect r="r" b="b" t="t" l="l"/>
              <a:pathLst>
                <a:path h="1443201" w="6495332">
                  <a:moveTo>
                    <a:pt x="0" y="0"/>
                  </a:moveTo>
                  <a:lnTo>
                    <a:pt x="6495332" y="0"/>
                  </a:lnTo>
                  <a:lnTo>
                    <a:pt x="6495332" y="1443201"/>
                  </a:lnTo>
                  <a:lnTo>
                    <a:pt x="0" y="14432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58" r="24918" b="217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495332" cy="1443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b="true" sz="520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970+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82963" y="4483416"/>
            <a:ext cx="4968929" cy="645291"/>
            <a:chOff x="0" y="0"/>
            <a:chExt cx="6625239" cy="8603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625241" cy="860382"/>
            </a:xfrm>
            <a:custGeom>
              <a:avLst/>
              <a:gdLst/>
              <a:ahLst/>
              <a:cxnLst/>
              <a:rect r="r" b="b" t="t" l="l"/>
              <a:pathLst>
                <a:path h="860382" w="6625241">
                  <a:moveTo>
                    <a:pt x="0" y="0"/>
                  </a:moveTo>
                  <a:lnTo>
                    <a:pt x="6625241" y="0"/>
                  </a:lnTo>
                  <a:lnTo>
                    <a:pt x="6625241" y="860382"/>
                  </a:lnTo>
                  <a:lnTo>
                    <a:pt x="0" y="8603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903" r="24918" b="-5340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625239" cy="90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96"/>
                </a:lnSpc>
              </a:pPr>
              <a:r>
                <a:rPr lang="en-US" sz="1600">
                  <a:solidFill>
                    <a:srgbClr val="B6CDE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INTERACTIONS</a:t>
              </a:r>
            </a:p>
            <a:p>
              <a:pPr algn="ctr">
                <a:lnSpc>
                  <a:spcPts val="2496"/>
                </a:lnSpc>
              </a:pPr>
              <a:r>
                <a:rPr lang="en-US" sz="1600">
                  <a:solidFill>
                    <a:srgbClr val="B6CDE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SUR LE MOIS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40099" y="5989406"/>
            <a:ext cx="16459200" cy="407516"/>
            <a:chOff x="0" y="0"/>
            <a:chExt cx="21945600" cy="5433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0" cy="543354"/>
            </a:xfrm>
            <a:custGeom>
              <a:avLst/>
              <a:gdLst/>
              <a:ahLst/>
              <a:cxnLst/>
              <a:rect r="r" b="b" t="t" l="l"/>
              <a:pathLst>
                <a:path h="5433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3354"/>
                  </a:lnTo>
                  <a:lnTo>
                    <a:pt x="0" y="5433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9218" r="0" b="-72474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1945600" cy="552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6D879A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PERFORMANCE DES CONTENUS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40080" y="6675120"/>
            <a:ext cx="5394960" cy="2926080"/>
            <a:chOff x="0" y="0"/>
            <a:chExt cx="7193280" cy="3901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932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5E0E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40080" y="6675120"/>
            <a:ext cx="91440" cy="2926080"/>
            <a:chOff x="0" y="0"/>
            <a:chExt cx="121920" cy="3901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192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6D879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6830726"/>
            <a:ext cx="4937760" cy="367717"/>
            <a:chOff x="0" y="0"/>
            <a:chExt cx="6583680" cy="49028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83685" cy="490287"/>
            </a:xfrm>
            <a:custGeom>
              <a:avLst/>
              <a:gdLst/>
              <a:ahLst/>
              <a:cxnLst/>
              <a:rect r="r" b="b" t="t" l="l"/>
              <a:pathLst>
                <a:path h="490287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490287"/>
                  </a:lnTo>
                  <a:lnTo>
                    <a:pt x="0" y="490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11" r="0" b="-19618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9525"/>
              <a:ext cx="6583680" cy="480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6D879A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RÉELS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4400" y="7530979"/>
            <a:ext cx="4937760" cy="625562"/>
            <a:chOff x="0" y="0"/>
            <a:chExt cx="6583680" cy="83408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5" cy="834083"/>
            </a:xfrm>
            <a:custGeom>
              <a:avLst/>
              <a:gdLst/>
              <a:ahLst/>
              <a:cxnLst/>
              <a:rect r="r" b="b" t="t" l="l"/>
              <a:pathLst>
                <a:path h="834083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834083"/>
                  </a:lnTo>
                  <a:lnTo>
                    <a:pt x="0" y="834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9" r="0" b="-8362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6583680" cy="8340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5 000 – 15 000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4400" y="8203178"/>
            <a:ext cx="4937760" cy="367717"/>
            <a:chOff x="0" y="0"/>
            <a:chExt cx="6583680" cy="49028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83685" cy="490287"/>
            </a:xfrm>
            <a:custGeom>
              <a:avLst/>
              <a:gdLst/>
              <a:ahLst/>
              <a:cxnLst/>
              <a:rect r="r" b="b" t="t" l="l"/>
              <a:pathLst>
                <a:path h="490287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490287"/>
                  </a:lnTo>
                  <a:lnTo>
                    <a:pt x="0" y="490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11" r="0" b="-19618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9525"/>
              <a:ext cx="6583680" cy="480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vues en moyenne par réel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4400" y="8870056"/>
            <a:ext cx="4937760" cy="367717"/>
            <a:chOff x="0" y="0"/>
            <a:chExt cx="6583680" cy="49028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83685" cy="490287"/>
            </a:xfrm>
            <a:custGeom>
              <a:avLst/>
              <a:gdLst/>
              <a:ahLst/>
              <a:cxnLst/>
              <a:rect r="r" b="b" t="t" l="l"/>
              <a:pathLst>
                <a:path h="490287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490287"/>
                  </a:lnTo>
                  <a:lnTo>
                    <a:pt x="0" y="490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11" r="0" b="-19618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9525"/>
              <a:ext cx="6583680" cy="480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↗ 36 000 vues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14400" y="9163307"/>
            <a:ext cx="4937760" cy="327918"/>
            <a:chOff x="0" y="0"/>
            <a:chExt cx="6583680" cy="4372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583685" cy="437222"/>
            </a:xfrm>
            <a:custGeom>
              <a:avLst/>
              <a:gdLst/>
              <a:ahLst/>
              <a:cxnLst/>
              <a:rect r="r" b="b" t="t" l="l"/>
              <a:pathLst>
                <a:path h="437222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437222"/>
                  </a:lnTo>
                  <a:lnTo>
                    <a:pt x="0" y="437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3213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6583680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D879A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meilleur Réel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345936" y="6675120"/>
            <a:ext cx="5394960" cy="2926080"/>
            <a:chOff x="0" y="0"/>
            <a:chExt cx="7193280" cy="3901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932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5E0E4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345936" y="6675120"/>
            <a:ext cx="91440" cy="2926080"/>
            <a:chOff x="0" y="0"/>
            <a:chExt cx="121920" cy="3901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192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6D879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620256" y="6830726"/>
            <a:ext cx="4937760" cy="367717"/>
            <a:chOff x="0" y="0"/>
            <a:chExt cx="6583680" cy="49028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583683" cy="490287"/>
            </a:xfrm>
            <a:custGeom>
              <a:avLst/>
              <a:gdLst/>
              <a:ahLst/>
              <a:cxnLst/>
              <a:rect r="r" b="b" t="t" l="l"/>
              <a:pathLst>
                <a:path h="490287" w="6583683">
                  <a:moveTo>
                    <a:pt x="0" y="0"/>
                  </a:moveTo>
                  <a:lnTo>
                    <a:pt x="6583683" y="0"/>
                  </a:lnTo>
                  <a:lnTo>
                    <a:pt x="6583683" y="490287"/>
                  </a:lnTo>
                  <a:lnTo>
                    <a:pt x="0" y="490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11" r="0" b="-19618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9525"/>
              <a:ext cx="6583680" cy="480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6D879A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STORIES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620256" y="7530979"/>
            <a:ext cx="4937760" cy="625562"/>
            <a:chOff x="0" y="0"/>
            <a:chExt cx="6583680" cy="83408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583683" cy="834083"/>
            </a:xfrm>
            <a:custGeom>
              <a:avLst/>
              <a:gdLst/>
              <a:ahLst/>
              <a:cxnLst/>
              <a:rect r="r" b="b" t="t" l="l"/>
              <a:pathLst>
                <a:path h="834083" w="6583683">
                  <a:moveTo>
                    <a:pt x="0" y="0"/>
                  </a:moveTo>
                  <a:lnTo>
                    <a:pt x="6583683" y="0"/>
                  </a:lnTo>
                  <a:lnTo>
                    <a:pt x="6583683" y="834083"/>
                  </a:lnTo>
                  <a:lnTo>
                    <a:pt x="0" y="834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9" r="0" b="-8362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6583680" cy="8340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jusqu'à 3 000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620256" y="8203178"/>
            <a:ext cx="4937760" cy="367717"/>
            <a:chOff x="0" y="0"/>
            <a:chExt cx="6583680" cy="49028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583683" cy="490287"/>
            </a:xfrm>
            <a:custGeom>
              <a:avLst/>
              <a:gdLst/>
              <a:ahLst/>
              <a:cxnLst/>
              <a:rect r="r" b="b" t="t" l="l"/>
              <a:pathLst>
                <a:path h="490287" w="6583683">
                  <a:moveTo>
                    <a:pt x="0" y="0"/>
                  </a:moveTo>
                  <a:lnTo>
                    <a:pt x="6583683" y="0"/>
                  </a:lnTo>
                  <a:lnTo>
                    <a:pt x="6583683" y="490287"/>
                  </a:lnTo>
                  <a:lnTo>
                    <a:pt x="0" y="490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11" r="0" b="-19618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9525"/>
              <a:ext cx="6583680" cy="480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personnes touchées par story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620256" y="8860531"/>
            <a:ext cx="4937760" cy="367717"/>
            <a:chOff x="0" y="0"/>
            <a:chExt cx="6583680" cy="49028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583683" cy="490287"/>
            </a:xfrm>
            <a:custGeom>
              <a:avLst/>
              <a:gdLst/>
              <a:ahLst/>
              <a:cxnLst/>
              <a:rect r="r" b="b" t="t" l="l"/>
              <a:pathLst>
                <a:path h="490287" w="6583683">
                  <a:moveTo>
                    <a:pt x="0" y="0"/>
                  </a:moveTo>
                  <a:lnTo>
                    <a:pt x="6583683" y="0"/>
                  </a:lnTo>
                  <a:lnTo>
                    <a:pt x="6583683" y="490287"/>
                  </a:lnTo>
                  <a:lnTo>
                    <a:pt x="0" y="490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11" r="0" b="-19618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9525"/>
              <a:ext cx="6583680" cy="480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↗ 67% non-abonnés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620256" y="9163307"/>
            <a:ext cx="4937760" cy="327918"/>
            <a:chOff x="0" y="0"/>
            <a:chExt cx="6583680" cy="43722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583683" cy="437222"/>
            </a:xfrm>
            <a:custGeom>
              <a:avLst/>
              <a:gdLst/>
              <a:ahLst/>
              <a:cxnLst/>
              <a:rect r="r" b="b" t="t" l="l"/>
              <a:pathLst>
                <a:path h="437222" w="6583683">
                  <a:moveTo>
                    <a:pt x="0" y="0"/>
                  </a:moveTo>
                  <a:lnTo>
                    <a:pt x="6583683" y="0"/>
                  </a:lnTo>
                  <a:lnTo>
                    <a:pt x="6583683" y="437222"/>
                  </a:lnTo>
                  <a:lnTo>
                    <a:pt x="0" y="437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3213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6583680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D879A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reach organique sur les meilleures stories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051792" y="6675120"/>
            <a:ext cx="5394960" cy="2926080"/>
            <a:chOff x="0" y="0"/>
            <a:chExt cx="7193280" cy="39014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1932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5E0E4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051792" y="6675120"/>
            <a:ext cx="91440" cy="2926080"/>
            <a:chOff x="0" y="0"/>
            <a:chExt cx="121920" cy="39014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192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6D879A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326112" y="6830726"/>
            <a:ext cx="4937760" cy="367717"/>
            <a:chOff x="0" y="0"/>
            <a:chExt cx="6583680" cy="49028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583685" cy="490287"/>
            </a:xfrm>
            <a:custGeom>
              <a:avLst/>
              <a:gdLst/>
              <a:ahLst/>
              <a:cxnLst/>
              <a:rect r="r" b="b" t="t" l="l"/>
              <a:pathLst>
                <a:path h="490287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490287"/>
                  </a:lnTo>
                  <a:lnTo>
                    <a:pt x="0" y="490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11" r="0" b="-19618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9525"/>
              <a:ext cx="6583680" cy="480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6D879A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CROISSANCE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326112" y="7530979"/>
            <a:ext cx="4937760" cy="625562"/>
            <a:chOff x="0" y="0"/>
            <a:chExt cx="6583680" cy="83408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583685" cy="834083"/>
            </a:xfrm>
            <a:custGeom>
              <a:avLst/>
              <a:gdLst/>
              <a:ahLst/>
              <a:cxnLst/>
              <a:rect r="r" b="b" t="t" l="l"/>
              <a:pathLst>
                <a:path h="834083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834083"/>
                  </a:lnTo>
                  <a:lnTo>
                    <a:pt x="0" y="834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9" r="0" b="-8362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6583680" cy="8340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122B44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+125 / mois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2326112" y="8203178"/>
            <a:ext cx="4937760" cy="367717"/>
            <a:chOff x="0" y="0"/>
            <a:chExt cx="6583680" cy="49028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583685" cy="490287"/>
            </a:xfrm>
            <a:custGeom>
              <a:avLst/>
              <a:gdLst/>
              <a:ahLst/>
              <a:cxnLst/>
              <a:rect r="r" b="b" t="t" l="l"/>
              <a:pathLst>
                <a:path h="490287" w="6583685">
                  <a:moveTo>
                    <a:pt x="0" y="0"/>
                  </a:moveTo>
                  <a:lnTo>
                    <a:pt x="6583685" y="0"/>
                  </a:lnTo>
                  <a:lnTo>
                    <a:pt x="6583685" y="490287"/>
                  </a:lnTo>
                  <a:lnTo>
                    <a:pt x="0" y="490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11" r="0" b="-19618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9525"/>
              <a:ext cx="6583680" cy="480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abonnés gagnés en moyenne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0" y="9862823"/>
            <a:ext cx="18288000" cy="327918"/>
            <a:chOff x="0" y="0"/>
            <a:chExt cx="24384000" cy="43722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384000" cy="437222"/>
            </a:xfrm>
            <a:custGeom>
              <a:avLst/>
              <a:gdLst/>
              <a:ahLst/>
              <a:cxnLst/>
              <a:rect r="r" b="b" t="t" l="l"/>
              <a:pathLst>
                <a:path h="43722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37222"/>
                  </a:lnTo>
                  <a:lnTo>
                    <a:pt x="0" y="437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956" r="0" b="-102541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24384000" cy="437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Le ciel est bleu running club</a:t>
              </a:r>
              <a:r>
                <a:rPr lang="en-US" sz="1600">
                  <a:solidFill>
                    <a:srgbClr val="6D879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· Paris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4384042"/>
            <a:ext cx="3657600" cy="91440"/>
            <a:chOff x="0" y="0"/>
            <a:chExt cx="4876800" cy="121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6800" cy="121920"/>
            </a:xfrm>
            <a:custGeom>
              <a:avLst/>
              <a:gdLst/>
              <a:ahLst/>
              <a:cxnLst/>
              <a:rect r="r" b="b" t="t" l="l"/>
              <a:pathLst>
                <a:path h="1219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6D87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054417"/>
            <a:ext cx="18288000" cy="3232583"/>
            <a:chOff x="0" y="0"/>
            <a:chExt cx="24384000" cy="4310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998" cy="4310111"/>
            </a:xfrm>
            <a:custGeom>
              <a:avLst/>
              <a:gdLst/>
              <a:ahLst/>
              <a:cxnLst/>
              <a:rect r="r" b="b" t="t" l="l"/>
              <a:pathLst>
                <a:path h="4310111" w="24383998">
                  <a:moveTo>
                    <a:pt x="0" y="0"/>
                  </a:moveTo>
                  <a:lnTo>
                    <a:pt x="24383998" y="0"/>
                  </a:lnTo>
                  <a:lnTo>
                    <a:pt x="24383998" y="4310111"/>
                  </a:lnTo>
                  <a:lnTo>
                    <a:pt x="0" y="4310111"/>
                  </a:lnTo>
                  <a:close/>
                </a:path>
              </a:pathLst>
            </a:custGeom>
            <a:solidFill>
              <a:srgbClr val="6D879A">
                <a:alpha val="6275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7302783"/>
            <a:ext cx="7330444" cy="1488700"/>
            <a:chOff x="0" y="0"/>
            <a:chExt cx="9773925" cy="198493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819592" y="639690"/>
              <a:ext cx="8954333" cy="576238"/>
              <a:chOff x="0" y="0"/>
              <a:chExt cx="8954333" cy="57623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954336" cy="576228"/>
              </a:xfrm>
              <a:custGeom>
                <a:avLst/>
                <a:gdLst/>
                <a:ahLst/>
                <a:cxnLst/>
                <a:rect r="r" b="b" t="t" l="l"/>
                <a:pathLst>
                  <a:path h="576228" w="8954336">
                    <a:moveTo>
                      <a:pt x="0" y="0"/>
                    </a:moveTo>
                    <a:lnTo>
                      <a:pt x="8954336" y="0"/>
                    </a:lnTo>
                    <a:lnTo>
                      <a:pt x="8954336" y="576228"/>
                    </a:lnTo>
                    <a:lnTo>
                      <a:pt x="0" y="57622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10368" r="-145083" b="-673803"/>
                </a:stretch>
              </a:blip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8954333" cy="57623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20"/>
                  </a:lnSpc>
                </a:pPr>
                <a:r>
                  <a:rPr lang="en-US" b="true" sz="2100">
                    <a:solidFill>
                      <a:srgbClr val="FFFFFF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Instagram</a:t>
                </a:r>
                <a:r>
                  <a:rPr lang="en-US" sz="2100">
                    <a:solidFill>
                      <a:srgbClr val="FFFFFF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 </a:t>
                </a:r>
                <a:r>
                  <a:rPr lang="en-US" sz="2100">
                    <a:solidFill>
                      <a:srgbClr val="B6CDE0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@lecielestbleu_runningclub</a:t>
                </a: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738740"/>
              <a:ext cx="470619" cy="470619"/>
            </a:xfrm>
            <a:custGeom>
              <a:avLst/>
              <a:gdLst/>
              <a:ahLst/>
              <a:cxnLst/>
              <a:rect r="r" b="b" t="t" l="l"/>
              <a:pathLst>
                <a:path h="470619" w="470619">
                  <a:moveTo>
                    <a:pt x="0" y="0"/>
                  </a:moveTo>
                  <a:lnTo>
                    <a:pt x="470619" y="0"/>
                  </a:lnTo>
                  <a:lnTo>
                    <a:pt x="470619" y="470619"/>
                  </a:lnTo>
                  <a:lnTo>
                    <a:pt x="0" y="470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514314"/>
              <a:ext cx="470619" cy="470619"/>
            </a:xfrm>
            <a:custGeom>
              <a:avLst/>
              <a:gdLst/>
              <a:ahLst/>
              <a:cxnLst/>
              <a:rect r="r" b="b" t="t" l="l"/>
              <a:pathLst>
                <a:path h="470619" w="470619">
                  <a:moveTo>
                    <a:pt x="0" y="0"/>
                  </a:moveTo>
                  <a:lnTo>
                    <a:pt x="470619" y="0"/>
                  </a:lnTo>
                  <a:lnTo>
                    <a:pt x="470619" y="470620"/>
                  </a:lnTo>
                  <a:lnTo>
                    <a:pt x="0" y="470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819592" y="1490773"/>
              <a:ext cx="8954333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TikTok</a:t>
              </a:r>
              <a:r>
                <a:rPr lang="en-US" sz="21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 </a:t>
              </a:r>
              <a:r>
                <a:rPr lang="en-US" sz="2100">
                  <a:solidFill>
                    <a:srgbClr val="B6CDE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@lecielestbleu_running 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0619" cy="470619"/>
            </a:xfrm>
            <a:custGeom>
              <a:avLst/>
              <a:gdLst/>
              <a:ahLst/>
              <a:cxnLst/>
              <a:rect r="r" b="b" t="t" l="l"/>
              <a:pathLst>
                <a:path h="470619" w="470619">
                  <a:moveTo>
                    <a:pt x="0" y="0"/>
                  </a:moveTo>
                  <a:lnTo>
                    <a:pt x="470619" y="0"/>
                  </a:lnTo>
                  <a:lnTo>
                    <a:pt x="470619" y="470619"/>
                  </a:lnTo>
                  <a:lnTo>
                    <a:pt x="0" y="470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819592" y="0"/>
              <a:ext cx="8954333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Strava</a:t>
              </a:r>
              <a:r>
                <a:rPr lang="en-US" sz="21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 </a:t>
              </a:r>
              <a:r>
                <a:rPr lang="en-US" sz="2100">
                  <a:solidFill>
                    <a:srgbClr val="B6CDE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Le ciel est bleu running Club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9041556"/>
            <a:ext cx="18288000" cy="1245444"/>
            <a:chOff x="0" y="0"/>
            <a:chExt cx="24384000" cy="1660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1660592"/>
            </a:xfrm>
            <a:custGeom>
              <a:avLst/>
              <a:gdLst/>
              <a:ahLst/>
              <a:cxnLst/>
              <a:rect r="r" b="b" t="t" l="l"/>
              <a:pathLst>
                <a:path h="166059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60592"/>
                  </a:lnTo>
                  <a:lnTo>
                    <a:pt x="0" y="1660592"/>
                  </a:lnTo>
                  <a:close/>
                </a:path>
              </a:pathLst>
            </a:custGeom>
            <a:solidFill>
              <a:srgbClr val="B6CDE0">
                <a:alpha val="3922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97280" y="9502353"/>
            <a:ext cx="409344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contact.lcebrunning@gmail.com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7280" y="4890554"/>
            <a:ext cx="12393097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Nous sommes ouverts à tout type de collaboration. 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L'essentiel : que ça fasse sens pour votre marque et pour notre communauté.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1231267"/>
            <a:ext cx="12461677" cy="290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97"/>
              </a:lnSpc>
              <a:spcBef>
                <a:spcPct val="0"/>
              </a:spcBef>
            </a:pPr>
            <a:r>
              <a:rPr lang="en-US" sz="9248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TRA</a:t>
            </a:r>
            <a:r>
              <a:rPr lang="en-US" sz="9248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VAILLONS </a:t>
            </a:r>
          </a:p>
          <a:p>
            <a:pPr algn="l">
              <a:lnSpc>
                <a:spcPts val="11097"/>
              </a:lnSpc>
              <a:spcBef>
                <a:spcPct val="0"/>
              </a:spcBef>
            </a:pPr>
            <a:r>
              <a:rPr lang="en-US" sz="9248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ENSEMBLE.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DAHKaFsGaiQ</dc:identifier>
  <dcterms:modified xsi:type="dcterms:W3CDTF">2011-08-01T06:04:30Z</dcterms:modified>
  <cp:revision>1</cp:revision>
  <dc:title>LCEB-MediaKit-2026.pptx</dc:title>
</cp:coreProperties>
</file>